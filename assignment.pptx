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5" r:id="rId9"/>
    <p:sldId id="263" r:id="rId10"/>
    <p:sldId id="268" r:id="rId11"/>
    <p:sldId id="267" r:id="rId12"/>
    <p:sldId id="264" r:id="rId13"/>
    <p:sldId id="271" r:id="rId14"/>
    <p:sldId id="270" r:id="rId15"/>
    <p:sldId id="269" r:id="rId16"/>
    <p:sldId id="272" r:id="rId17"/>
    <p:sldId id="273" r:id="rId18"/>
    <p:sldId id="277" r:id="rId19"/>
    <p:sldId id="276" r:id="rId20"/>
    <p:sldId id="275" r:id="rId21"/>
    <p:sldId id="274" r:id="rId22"/>
    <p:sldId id="278" r:id="rId23"/>
    <p:sldId id="282" r:id="rId24"/>
    <p:sldId id="284" r:id="rId25"/>
    <p:sldId id="281" r:id="rId26"/>
    <p:sldId id="283" r:id="rId27"/>
    <p:sldId id="280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3E982-126B-4F44-A03D-CE9BE0ECB747}" v="292" dt="2025-10-10T19:31:24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6338-1016-7AEB-123F-8B43CF352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1F74F-60C0-FF7B-CFB3-2F2F958C3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4B6A-4CFE-2A36-E677-B5E3864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85625-DD62-4D35-910B-48183C79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ED26-5FE0-4C51-DB83-55399139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02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7827-B93D-29CE-5942-4D9B2CE1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B0C11-3AC2-692D-10C7-4070D2B7C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BCC01-E18E-EC8F-617D-1F1747E4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213FF-418C-CC20-1403-CE57A628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8B609-1646-3FF7-FCC0-6C7D4B50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9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BA9B-8F86-58FB-1773-A59F02E4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87313-14DC-C738-1A9D-0E0EE0ABE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10B1B-AB6B-CD68-72FA-AC48B79E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A7543-F191-ACA0-7BC3-069B847A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55DDE-DC27-5C0D-0645-8CF0A2B4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44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F9C6-1546-32D5-EAD1-597D10D5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FF848-CB90-DEEF-3DF9-C5CFB08C6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00609-4B3B-3F2A-22A1-981FC1C90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F3C81-0AAB-2F46-B32D-597A543D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02A26-BCF8-0F46-6168-79514F61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F856D-4EA2-7006-99B4-5C73EF07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305C-C512-66B4-90D2-0B2694B7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7E2B6-C0BC-7440-E247-2E86B5E7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3E56B-3C1F-6E51-D69D-8A6D30874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3F34D-4B56-DE86-09B3-2923BDC74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82A9D-8021-315E-922D-92AC29A83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EBEE1-7726-5576-8313-928FE01D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0B61A-93FD-B40E-14AD-51003156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DA75D-18C7-2446-356E-2906ECE4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97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3089-A00F-34CA-49EE-73E469E8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E2FE-E5AD-DF4F-36F9-3394FC28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7A458-E12E-A9AD-E735-6998F566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38BE1-B7DA-3B6B-B949-95F2EE0A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90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BD8D9-7F7D-EF78-ADCC-BC6FC85F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D8D56-2402-538C-57C2-FE2AEF95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7EEEF-B2EA-3C15-0814-38E9CE5F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82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AB5A-A08A-E2EF-FF32-9CAFE9C0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70A06-70FE-70BD-300E-A3B4C78BE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253D2-DBF5-4D10-DE25-32104A853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0744-E457-3FDD-EFFF-A468581B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49873-7AC7-09F3-231E-1E6B2763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B3DDC-F434-C568-B428-6D26F065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65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8E7F-2CD9-A89A-F16D-78F8A1B2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CFD9C-1DF3-0435-35B8-55546DF2B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A627F-F820-C01D-0E84-07ED9C5C8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5EC6D-9740-89EB-BE71-877F22A2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52245-399E-4638-2123-08CD8A05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A6779-EE32-EB5F-3B51-6FD117FC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16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3C8C-6CD9-8E66-B456-E0A8A37D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5410D-5C5C-D51A-4B02-A33C64FF5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27CBB-445C-64E9-C56C-CF64060D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A217-CABF-90EC-EEF8-788329FD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03DDC-B3D0-D36F-9E26-512E02CD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48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5CCFA-EFAA-63B4-547D-63B00549D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C172C-ADCC-BC0C-46F6-977811A12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85E9-5951-818D-F8CA-BBFD8116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3334-56F5-9CC2-30EF-6F9D9BEE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A706-CD2A-2582-CA93-E9C57255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0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CBA77-F9BD-96A1-5A28-34845369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36AA8-387F-DD59-45D7-2DB7A55D8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18E6D-9AFF-A5B8-B75B-72868DDCB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1F78A-224E-4139-9DE1-702ECCC644C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4C338-6419-B4FB-DDC4-B8F506E08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55793-719F-C775-B2B6-9F163166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F209C-BD26-47C3-8FF8-47D3EC4EC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2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44C5-A0D5-CA48-9708-19694FCD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5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 Write an algorithm and flow chart to print “Adamas University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53CC-82EA-B628-88EA-33EBB0D5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714" y="968222"/>
            <a:ext cx="5181600" cy="435133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 code</a:t>
            </a:r>
          </a:p>
          <a:p>
            <a:pPr marL="0" indent="0">
              <a:buNone/>
            </a:pPr>
            <a:r>
              <a:rPr lang="en-IN" sz="1600" dirty="0"/>
              <a:t>Step 1. Start</a:t>
            </a:r>
          </a:p>
          <a:p>
            <a:pPr marL="0" indent="0">
              <a:buNone/>
            </a:pPr>
            <a:r>
              <a:rPr lang="en-IN" sz="1600" dirty="0"/>
              <a:t>Step 2. Print ”Adamas University”</a:t>
            </a:r>
          </a:p>
          <a:p>
            <a:pPr marL="0" indent="0">
              <a:buNone/>
            </a:pPr>
            <a:r>
              <a:rPr lang="en-IN" sz="1600" dirty="0"/>
              <a:t>Step 3.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C628B-C714-A8B2-DCEE-F627F6C6A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5944" y="968222"/>
            <a:ext cx="5181600" cy="435133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69C8A8-8DDC-4A48-5FF2-92A0C91E1331}"/>
              </a:ext>
            </a:extLst>
          </p:cNvPr>
          <p:cNvSpPr/>
          <p:nvPr/>
        </p:nvSpPr>
        <p:spPr>
          <a:xfrm>
            <a:off x="8662217" y="901854"/>
            <a:ext cx="1317522" cy="38345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A0A138C-444E-61A9-B3B1-CBC8A04680BE}"/>
              </a:ext>
            </a:extLst>
          </p:cNvPr>
          <p:cNvSpPr/>
          <p:nvPr/>
        </p:nvSpPr>
        <p:spPr>
          <a:xfrm>
            <a:off x="7495250" y="1662575"/>
            <a:ext cx="3651455" cy="51127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Print Adamas University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F75CF3-D30C-E36D-35C3-3CD9F89EE48C}"/>
              </a:ext>
            </a:extLst>
          </p:cNvPr>
          <p:cNvSpPr/>
          <p:nvPr/>
        </p:nvSpPr>
        <p:spPr>
          <a:xfrm>
            <a:off x="8662217" y="2551115"/>
            <a:ext cx="1340864" cy="43221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2956AE-3A4C-A3FA-31A6-8133CCDAD85A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9320978" y="1285312"/>
            <a:ext cx="0" cy="377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0DFFBF-8CC1-55AB-4CFA-48B3633DEA7E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9320978" y="2173852"/>
            <a:ext cx="11671" cy="377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5086648-3EE6-873B-9474-AA02EE8D1B93}"/>
              </a:ext>
            </a:extLst>
          </p:cNvPr>
          <p:cNvSpPr/>
          <p:nvPr/>
        </p:nvSpPr>
        <p:spPr>
          <a:xfrm>
            <a:off x="425245" y="3062392"/>
            <a:ext cx="11501284" cy="413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G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Print sum of two float value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B31F6A-0BD6-2B73-CA7D-CD468C7AA8FC}"/>
              </a:ext>
            </a:extLst>
          </p:cNvPr>
          <p:cNvSpPr/>
          <p:nvPr/>
        </p:nvSpPr>
        <p:spPr>
          <a:xfrm>
            <a:off x="635714" y="3447934"/>
            <a:ext cx="5427407" cy="3706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i="1" u="sng" dirty="0">
                <a:solidFill>
                  <a:schemeClr val="tx1"/>
                </a:solidFill>
              </a:rPr>
              <a:t>Pseudo code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 1. Start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 2. Input float </a:t>
            </a:r>
            <a:r>
              <a:rPr lang="en-IN" sz="1600" dirty="0" err="1">
                <a:solidFill>
                  <a:schemeClr val="tx1"/>
                </a:solidFill>
              </a:rPr>
              <a:t>a,b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Step 3. Let sum= </a:t>
            </a:r>
            <a:r>
              <a:rPr lang="en-IN" sz="1600" dirty="0" err="1">
                <a:solidFill>
                  <a:schemeClr val="tx1"/>
                </a:solidFill>
              </a:rPr>
              <a:t>a+b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Step 4. display sum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 5. stop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1EB558-C7EE-0B8B-4680-D693822F55B2}"/>
              </a:ext>
            </a:extLst>
          </p:cNvPr>
          <p:cNvSpPr/>
          <p:nvPr/>
        </p:nvSpPr>
        <p:spPr>
          <a:xfrm>
            <a:off x="5915944" y="3462040"/>
            <a:ext cx="5981242" cy="3706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i="1" u="sng" dirty="0">
                <a:solidFill>
                  <a:schemeClr val="tx1"/>
                </a:solidFill>
              </a:rPr>
              <a:t>Flowchart</a:t>
            </a:r>
            <a:endParaRPr lang="en-I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32044E-8A30-0353-CABB-F3A33463A92D}"/>
              </a:ext>
            </a:extLst>
          </p:cNvPr>
          <p:cNvSpPr/>
          <p:nvPr/>
        </p:nvSpPr>
        <p:spPr>
          <a:xfrm>
            <a:off x="8662217" y="3687097"/>
            <a:ext cx="1317523" cy="41375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5625B08B-3A54-CD40-C917-E3F4BA23B6BF}"/>
              </a:ext>
            </a:extLst>
          </p:cNvPr>
          <p:cNvSpPr/>
          <p:nvPr/>
        </p:nvSpPr>
        <p:spPr>
          <a:xfrm>
            <a:off x="8031712" y="4259223"/>
            <a:ext cx="2625213" cy="37282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Input float </a:t>
            </a:r>
            <a:r>
              <a:rPr lang="en-IN" dirty="0" err="1">
                <a:solidFill>
                  <a:sysClr val="windowText" lastClr="000000"/>
                </a:solidFill>
              </a:rPr>
              <a:t>a,b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E7671132-FECC-6F0E-5C18-46ED45F6D0FD}"/>
              </a:ext>
            </a:extLst>
          </p:cNvPr>
          <p:cNvSpPr/>
          <p:nvPr/>
        </p:nvSpPr>
        <p:spPr>
          <a:xfrm>
            <a:off x="8020042" y="4839609"/>
            <a:ext cx="2625213" cy="37282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Let sum</a:t>
            </a: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1F537D6-0307-727C-280A-2B7A3891D60A}"/>
              </a:ext>
            </a:extLst>
          </p:cNvPr>
          <p:cNvSpPr/>
          <p:nvPr/>
        </p:nvSpPr>
        <p:spPr>
          <a:xfrm>
            <a:off x="8008369" y="5896700"/>
            <a:ext cx="2625213" cy="37282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Display sum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DD9DC9-1DE6-A369-C6A3-D1DDB4A30EC8}"/>
              </a:ext>
            </a:extLst>
          </p:cNvPr>
          <p:cNvSpPr/>
          <p:nvPr/>
        </p:nvSpPr>
        <p:spPr>
          <a:xfrm>
            <a:off x="8685558" y="6425992"/>
            <a:ext cx="1317523" cy="41375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F17177-D265-7288-7CE7-DB1440438E71}"/>
              </a:ext>
            </a:extLst>
          </p:cNvPr>
          <p:cNvSpPr/>
          <p:nvPr/>
        </p:nvSpPr>
        <p:spPr>
          <a:xfrm>
            <a:off x="8002533" y="5329035"/>
            <a:ext cx="2636883" cy="4132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sum= </a:t>
            </a:r>
            <a:r>
              <a:rPr lang="en-IN" dirty="0" err="1">
                <a:solidFill>
                  <a:sysClr val="windowText" lastClr="000000"/>
                </a:solidFill>
              </a:rPr>
              <a:t>a+b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7E7AC8-254A-65EB-BD42-2D0EA8AE6C08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>
            <a:off x="9320979" y="4100850"/>
            <a:ext cx="23340" cy="158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6211DA-7C2C-BF89-10F5-0E50C3756CC4}"/>
              </a:ext>
            </a:extLst>
          </p:cNvPr>
          <p:cNvCxnSpPr>
            <a:stCxn id="25" idx="3"/>
            <a:endCxn id="25" idx="4"/>
          </p:cNvCxnSpPr>
          <p:nvPr/>
        </p:nvCxnSpPr>
        <p:spPr>
          <a:xfrm>
            <a:off x="9297715" y="4632050"/>
            <a:ext cx="466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9C65B6-8B0A-C53D-2E7F-82A8AEAAE7FF}"/>
              </a:ext>
            </a:extLst>
          </p:cNvPr>
          <p:cNvCxnSpPr>
            <a:stCxn id="26" idx="4"/>
            <a:endCxn id="29" idx="0"/>
          </p:cNvCxnSpPr>
          <p:nvPr/>
        </p:nvCxnSpPr>
        <p:spPr>
          <a:xfrm flipH="1">
            <a:off x="9320975" y="5212436"/>
            <a:ext cx="11674" cy="116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E12BCA-8120-D531-EF24-FB76B4FD4D7E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9332649" y="4632050"/>
            <a:ext cx="11670" cy="207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9CD47D-4AC5-2D40-59DA-12F4A97663EF}"/>
              </a:ext>
            </a:extLst>
          </p:cNvPr>
          <p:cNvCxnSpPr>
            <a:stCxn id="29" idx="2"/>
            <a:endCxn id="27" idx="0"/>
          </p:cNvCxnSpPr>
          <p:nvPr/>
        </p:nvCxnSpPr>
        <p:spPr>
          <a:xfrm>
            <a:off x="9320975" y="5742298"/>
            <a:ext cx="1" cy="154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B04AD6-9B0C-E4DB-695F-B3C0CB3B7934}"/>
              </a:ext>
            </a:extLst>
          </p:cNvPr>
          <p:cNvCxnSpPr>
            <a:stCxn id="27" idx="4"/>
            <a:endCxn id="28" idx="0"/>
          </p:cNvCxnSpPr>
          <p:nvPr/>
        </p:nvCxnSpPr>
        <p:spPr>
          <a:xfrm>
            <a:off x="9320976" y="6269527"/>
            <a:ext cx="23344" cy="15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75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1C859-C599-6684-AFC0-1E953DC8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365125"/>
            <a:ext cx="10866120" cy="569595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 Print difference between two no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CD57E-204F-54FB-A8CE-778BC53DE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34720"/>
            <a:ext cx="5410200" cy="2217042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  <a:endParaRPr lang="en-IN" sz="1600" i="1" u="sng" dirty="0"/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a,b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Step3. Difference= a-b</a:t>
            </a:r>
          </a:p>
          <a:p>
            <a:pPr marL="0" indent="0">
              <a:buNone/>
            </a:pPr>
            <a:r>
              <a:rPr lang="en-IN" sz="1600" dirty="0"/>
              <a:t>Step4. Print difference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DC899-9D40-529E-0D63-5B79C1B73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934720"/>
            <a:ext cx="5758541" cy="236295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A7A70C-658E-7CFF-A763-2A8FB171066E}"/>
              </a:ext>
            </a:extLst>
          </p:cNvPr>
          <p:cNvSpPr/>
          <p:nvPr/>
        </p:nvSpPr>
        <p:spPr>
          <a:xfrm>
            <a:off x="9109257" y="632925"/>
            <a:ext cx="1045841" cy="35906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B8995B-22A9-5D9F-82C8-1965D68CBCAE}"/>
              </a:ext>
            </a:extLst>
          </p:cNvPr>
          <p:cNvSpPr/>
          <p:nvPr/>
        </p:nvSpPr>
        <p:spPr>
          <a:xfrm>
            <a:off x="9086383" y="2957455"/>
            <a:ext cx="1045841" cy="44485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FA4079-C9A9-D65B-6906-43373801283F}"/>
              </a:ext>
            </a:extLst>
          </p:cNvPr>
          <p:cNvSpPr/>
          <p:nvPr/>
        </p:nvSpPr>
        <p:spPr>
          <a:xfrm>
            <a:off x="8505041" y="1259786"/>
            <a:ext cx="2254271" cy="35905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ysClr val="windowText" lastClr="000000"/>
                </a:solidFill>
              </a:rPr>
              <a:t>Input     </a:t>
            </a:r>
            <a:r>
              <a:rPr lang="en-IN" dirty="0" err="1">
                <a:solidFill>
                  <a:sysClr val="windowText" lastClr="000000"/>
                </a:solidFill>
              </a:rPr>
              <a:t>a,b</a:t>
            </a:r>
            <a:endParaRPr lang="en-IN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FA5E90E-03D2-80E2-9E41-E389E0F87664}"/>
              </a:ext>
            </a:extLst>
          </p:cNvPr>
          <p:cNvSpPr/>
          <p:nvPr/>
        </p:nvSpPr>
        <p:spPr>
          <a:xfrm>
            <a:off x="8472441" y="2378725"/>
            <a:ext cx="2254271" cy="359056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ysClr val="windowText" lastClr="000000"/>
                </a:solidFill>
              </a:rPr>
              <a:t>print difference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6E20F-A1BF-CCB0-7BEE-3A40527BEF19}"/>
              </a:ext>
            </a:extLst>
          </p:cNvPr>
          <p:cNvSpPr/>
          <p:nvPr/>
        </p:nvSpPr>
        <p:spPr>
          <a:xfrm>
            <a:off x="8482169" y="1834452"/>
            <a:ext cx="2300014" cy="3590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ysClr val="windowText" lastClr="000000"/>
                </a:solidFill>
              </a:rPr>
              <a:t>difference=a-b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21F38C-C72B-F88B-3F29-4D8D9ABA35D4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9632177" y="991986"/>
            <a:ext cx="1" cy="26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42B362-ADA2-35D3-3CAA-1011B6805BED}"/>
              </a:ext>
            </a:extLst>
          </p:cNvPr>
          <p:cNvCxnSpPr>
            <a:stCxn id="7" idx="4"/>
            <a:endCxn id="9" idx="0"/>
          </p:cNvCxnSpPr>
          <p:nvPr/>
        </p:nvCxnSpPr>
        <p:spPr>
          <a:xfrm flipH="1">
            <a:off x="9632176" y="1618845"/>
            <a:ext cx="1" cy="21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B5A85E-C397-6AD6-A7A9-2499F268620C}"/>
              </a:ext>
            </a:extLst>
          </p:cNvPr>
          <p:cNvCxnSpPr>
            <a:stCxn id="9" idx="2"/>
            <a:endCxn id="8" idx="1"/>
          </p:cNvCxnSpPr>
          <p:nvPr/>
        </p:nvCxnSpPr>
        <p:spPr>
          <a:xfrm>
            <a:off x="9632176" y="2193508"/>
            <a:ext cx="12283" cy="185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0666D9-6728-D459-7269-0CDDF9AD6253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599577" y="2737781"/>
            <a:ext cx="9727" cy="21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96119B2-4703-E319-D49C-CF848BB45FAB}"/>
              </a:ext>
            </a:extLst>
          </p:cNvPr>
          <p:cNvSpPr/>
          <p:nvPr/>
        </p:nvSpPr>
        <p:spPr>
          <a:xfrm>
            <a:off x="487680" y="3212615"/>
            <a:ext cx="5532120" cy="379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4. Print ASCII value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145E62-8B4C-2FF1-8271-21570C466271}"/>
              </a:ext>
            </a:extLst>
          </p:cNvPr>
          <p:cNvSpPr/>
          <p:nvPr/>
        </p:nvSpPr>
        <p:spPr>
          <a:xfrm>
            <a:off x="449580" y="3721357"/>
            <a:ext cx="5608320" cy="299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u="sng" dirty="0">
                <a:solidFill>
                  <a:schemeClr val="tx1"/>
                </a:solidFill>
              </a:rPr>
              <a:t>Pseudocode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Step1. Start 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Step2. Input char value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Step3. Display ASCII value</a:t>
            </a:r>
          </a:p>
          <a:p>
            <a:r>
              <a:rPr lang="en-IN" sz="1600" dirty="0">
                <a:solidFill>
                  <a:schemeClr val="tx1"/>
                </a:solidFill>
              </a:rPr>
              <a:t>Step4. Stop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62535A-6859-0D58-6E31-8B15E58D0BFE}"/>
              </a:ext>
            </a:extLst>
          </p:cNvPr>
          <p:cNvSpPr/>
          <p:nvPr/>
        </p:nvSpPr>
        <p:spPr>
          <a:xfrm>
            <a:off x="6134102" y="3687094"/>
            <a:ext cx="5608320" cy="299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Flowchart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53681B-832B-288B-BBCF-0E2A82863D7E}"/>
              </a:ext>
            </a:extLst>
          </p:cNvPr>
          <p:cNvSpPr/>
          <p:nvPr/>
        </p:nvSpPr>
        <p:spPr>
          <a:xfrm>
            <a:off x="9109255" y="3768660"/>
            <a:ext cx="1045841" cy="35906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BD7E0B04-B3F3-3FA6-AA48-E4056815D235}"/>
              </a:ext>
            </a:extLst>
          </p:cNvPr>
          <p:cNvSpPr/>
          <p:nvPr/>
        </p:nvSpPr>
        <p:spPr>
          <a:xfrm>
            <a:off x="8384981" y="4452790"/>
            <a:ext cx="2494388" cy="35905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</a:t>
            </a:r>
            <a:r>
              <a:rPr lang="en-IN" dirty="0">
                <a:solidFill>
                  <a:sysClr val="windowText" lastClr="000000"/>
                </a:solidFill>
              </a:rPr>
              <a:t>Input char value</a:t>
            </a:r>
            <a:endParaRPr lang="en-IN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4A481EDC-7A49-07EA-CFC7-39DE877A63BA}"/>
              </a:ext>
            </a:extLst>
          </p:cNvPr>
          <p:cNvSpPr/>
          <p:nvPr/>
        </p:nvSpPr>
        <p:spPr>
          <a:xfrm>
            <a:off x="8410703" y="5089609"/>
            <a:ext cx="2397202" cy="35905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ysClr val="windowText" lastClr="000000"/>
                </a:solidFill>
              </a:rPr>
              <a:t>print difference</a:t>
            </a:r>
            <a:endParaRPr lang="en-IN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2B9D0C-C3F3-28B6-A4A7-055AEA9AF640}"/>
              </a:ext>
            </a:extLst>
          </p:cNvPr>
          <p:cNvSpPr/>
          <p:nvPr/>
        </p:nvSpPr>
        <p:spPr>
          <a:xfrm>
            <a:off x="9086383" y="5773735"/>
            <a:ext cx="1045841" cy="44485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stop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2B54D15-6A12-9A3C-BED5-837375934A34}"/>
              </a:ext>
            </a:extLst>
          </p:cNvPr>
          <p:cNvCxnSpPr>
            <a:cxnSpLocks/>
            <a:stCxn id="40" idx="4"/>
            <a:endCxn id="41" idx="0"/>
          </p:cNvCxnSpPr>
          <p:nvPr/>
        </p:nvCxnSpPr>
        <p:spPr>
          <a:xfrm flipH="1">
            <a:off x="9632175" y="4127721"/>
            <a:ext cx="1" cy="32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078746B-6D7A-89B4-41BE-8E135BA5170C}"/>
              </a:ext>
            </a:extLst>
          </p:cNvPr>
          <p:cNvCxnSpPr>
            <a:cxnSpLocks/>
            <a:stCxn id="41" idx="4"/>
            <a:endCxn id="42" idx="1"/>
          </p:cNvCxnSpPr>
          <p:nvPr/>
        </p:nvCxnSpPr>
        <p:spPr>
          <a:xfrm>
            <a:off x="9632175" y="4811849"/>
            <a:ext cx="22011" cy="277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45BEB7-1C15-487B-028C-95A317CD5B23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>
          <a:xfrm>
            <a:off x="9609304" y="5448668"/>
            <a:ext cx="0" cy="325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88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519-854B-4042-B71E-F329EBA1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365125"/>
            <a:ext cx="10831286" cy="538389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 Print multiplication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EFE4-B94B-6AED-9B58-58D661F5D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514" y="1161595"/>
            <a:ext cx="5497286" cy="501536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11C9D-71DF-297F-75C2-B42D3E324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161595"/>
            <a:ext cx="5345347" cy="520654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9941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F001-828E-71B9-CCD6-A30B0E4E3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6" y="365126"/>
            <a:ext cx="10838234" cy="520092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Calculate simple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9DCF-2432-D165-938F-5816D5ED7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566" y="967900"/>
            <a:ext cx="5504234" cy="5822006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Stert</a:t>
            </a:r>
          </a:p>
          <a:p>
            <a:pPr marL="0" indent="0">
              <a:buNone/>
            </a:pPr>
            <a:r>
              <a:rPr lang="en-IN" sz="1600" dirty="0"/>
              <a:t>Step2. Input principal, time ,rate</a:t>
            </a:r>
          </a:p>
          <a:p>
            <a:pPr marL="0" indent="0">
              <a:buNone/>
            </a:pPr>
            <a:r>
              <a:rPr lang="en-IN" sz="1600" dirty="0"/>
              <a:t>Step3. Total interest= </a:t>
            </a:r>
            <a:r>
              <a:rPr lang="en-IN" sz="1600" dirty="0" err="1"/>
              <a:t>ptr</a:t>
            </a:r>
            <a:r>
              <a:rPr lang="en-IN" sz="1600" dirty="0"/>
              <a:t>/100</a:t>
            </a:r>
          </a:p>
          <a:p>
            <a:pPr marL="0" indent="0">
              <a:buNone/>
            </a:pPr>
            <a:r>
              <a:rPr lang="en-IN" sz="1600" dirty="0"/>
              <a:t>Step4. Display Total interest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7.Calculate area of a circle</a:t>
            </a:r>
          </a:p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Radius</a:t>
            </a:r>
          </a:p>
          <a:p>
            <a:pPr marL="0" indent="0">
              <a:buNone/>
            </a:pPr>
            <a:r>
              <a:rPr lang="en-IN" sz="1600" dirty="0"/>
              <a:t>Step3. area=3.14*r*r</a:t>
            </a:r>
          </a:p>
          <a:p>
            <a:pPr marL="0" indent="0">
              <a:buNone/>
            </a:pPr>
            <a:r>
              <a:rPr lang="en-IN" sz="1600" dirty="0"/>
              <a:t>Step4. Display area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3C95-6D16-586C-A727-F8D4E1736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3281" y="1016538"/>
            <a:ext cx="5181600" cy="5068010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70586D-2207-85CC-8AC2-3804DFB46BA0}"/>
              </a:ext>
            </a:extLst>
          </p:cNvPr>
          <p:cNvSpPr/>
          <p:nvPr/>
        </p:nvSpPr>
        <p:spPr>
          <a:xfrm>
            <a:off x="9114817" y="700391"/>
            <a:ext cx="904672" cy="43774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6E0944-B98C-E1F7-9D76-4570286CDAFC}"/>
              </a:ext>
            </a:extLst>
          </p:cNvPr>
          <p:cNvSpPr/>
          <p:nvPr/>
        </p:nvSpPr>
        <p:spPr>
          <a:xfrm>
            <a:off x="9114817" y="3283033"/>
            <a:ext cx="904672" cy="43774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stop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0A945FAC-6B0D-D233-CB1D-1F2FC549F121}"/>
              </a:ext>
            </a:extLst>
          </p:cNvPr>
          <p:cNvSpPr/>
          <p:nvPr/>
        </p:nvSpPr>
        <p:spPr>
          <a:xfrm>
            <a:off x="7948308" y="1361871"/>
            <a:ext cx="3237689" cy="437745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Input Principle, time, rate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58FDE16-97CB-88EF-BE3C-AEB37DD25511}"/>
              </a:ext>
            </a:extLst>
          </p:cNvPr>
          <p:cNvSpPr/>
          <p:nvPr/>
        </p:nvSpPr>
        <p:spPr>
          <a:xfrm>
            <a:off x="7948307" y="2689646"/>
            <a:ext cx="3237689" cy="34046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Display interest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558E5C-C99C-7E8A-1E9B-E3EF5D7D0E95}"/>
              </a:ext>
            </a:extLst>
          </p:cNvPr>
          <p:cNvSpPr/>
          <p:nvPr/>
        </p:nvSpPr>
        <p:spPr>
          <a:xfrm>
            <a:off x="7948308" y="2052534"/>
            <a:ext cx="3237689" cy="34046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Total interest= p*t*r/100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429D31-BE3C-CE69-C64E-D6B1359E990D}"/>
              </a:ext>
            </a:extLst>
          </p:cNvPr>
          <p:cNvSpPr/>
          <p:nvPr/>
        </p:nvSpPr>
        <p:spPr>
          <a:xfrm>
            <a:off x="9114815" y="4019903"/>
            <a:ext cx="904672" cy="43774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start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87A114-9AAA-7678-98E0-35642236BB3B}"/>
              </a:ext>
            </a:extLst>
          </p:cNvPr>
          <p:cNvSpPr/>
          <p:nvPr/>
        </p:nvSpPr>
        <p:spPr>
          <a:xfrm>
            <a:off x="9114815" y="6263319"/>
            <a:ext cx="904672" cy="43774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stop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380706-61F7-03A9-020A-055C5CFB4125}"/>
              </a:ext>
            </a:extLst>
          </p:cNvPr>
          <p:cNvCxnSpPr>
            <a:stCxn id="5" idx="4"/>
            <a:endCxn id="8" idx="1"/>
          </p:cNvCxnSpPr>
          <p:nvPr/>
        </p:nvCxnSpPr>
        <p:spPr>
          <a:xfrm>
            <a:off x="9567153" y="1138136"/>
            <a:ext cx="0" cy="223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C03BBF-FB75-7653-81A4-C6071C49DDE5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9567153" y="1799616"/>
            <a:ext cx="0" cy="252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169D89-C727-36E2-4051-77C1D8320132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9567152" y="2393003"/>
            <a:ext cx="1" cy="29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18E695-DAE3-8D3F-48D4-4F73935D050D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9567152" y="3030115"/>
            <a:ext cx="1" cy="252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93337A39-670C-5DEC-7897-3EA477360221}"/>
              </a:ext>
            </a:extLst>
          </p:cNvPr>
          <p:cNvSpPr/>
          <p:nvPr/>
        </p:nvSpPr>
        <p:spPr>
          <a:xfrm>
            <a:off x="8528723" y="4636419"/>
            <a:ext cx="2076855" cy="34046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Input radius</a:t>
            </a:r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52311C09-F456-38FD-9DF9-67159A10C33F}"/>
              </a:ext>
            </a:extLst>
          </p:cNvPr>
          <p:cNvSpPr/>
          <p:nvPr/>
        </p:nvSpPr>
        <p:spPr>
          <a:xfrm>
            <a:off x="8528722" y="5693021"/>
            <a:ext cx="2076856" cy="34046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Display area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4CF733-5625-978A-6559-B8C15487E575}"/>
              </a:ext>
            </a:extLst>
          </p:cNvPr>
          <p:cNvSpPr/>
          <p:nvPr/>
        </p:nvSpPr>
        <p:spPr>
          <a:xfrm>
            <a:off x="8528722" y="5156847"/>
            <a:ext cx="2076856" cy="34046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Area=3.14*r*r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08270A-FD81-2C55-4AB2-CC5474058D12}"/>
              </a:ext>
            </a:extLst>
          </p:cNvPr>
          <p:cNvCxnSpPr>
            <a:stCxn id="11" idx="4"/>
            <a:endCxn id="21" idx="0"/>
          </p:cNvCxnSpPr>
          <p:nvPr/>
        </p:nvCxnSpPr>
        <p:spPr>
          <a:xfrm>
            <a:off x="9567151" y="4457648"/>
            <a:ext cx="0" cy="178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D40A36-DCD9-7A11-C7F2-5DE7374AF940}"/>
              </a:ext>
            </a:extLst>
          </p:cNvPr>
          <p:cNvCxnSpPr>
            <a:stCxn id="21" idx="4"/>
            <a:endCxn id="24" idx="0"/>
          </p:cNvCxnSpPr>
          <p:nvPr/>
        </p:nvCxnSpPr>
        <p:spPr>
          <a:xfrm flipH="1">
            <a:off x="9567150" y="4976888"/>
            <a:ext cx="1" cy="179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0D442D-AF69-7DD7-E57C-5F9FEA49E10D}"/>
              </a:ext>
            </a:extLst>
          </p:cNvPr>
          <p:cNvCxnSpPr>
            <a:stCxn id="24" idx="2"/>
            <a:endCxn id="23" idx="0"/>
          </p:cNvCxnSpPr>
          <p:nvPr/>
        </p:nvCxnSpPr>
        <p:spPr>
          <a:xfrm>
            <a:off x="9567150" y="5497316"/>
            <a:ext cx="0" cy="195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0A4C1A-DCAC-C617-18B2-6C95EAB5BCB4}"/>
              </a:ext>
            </a:extLst>
          </p:cNvPr>
          <p:cNvCxnSpPr>
            <a:stCxn id="23" idx="4"/>
            <a:endCxn id="12" idx="0"/>
          </p:cNvCxnSpPr>
          <p:nvPr/>
        </p:nvCxnSpPr>
        <p:spPr>
          <a:xfrm>
            <a:off x="9567150" y="6033490"/>
            <a:ext cx="1" cy="229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24114BF1-7341-1982-5E7A-454D0031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346" y="4076799"/>
            <a:ext cx="1633870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2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CFFA-08D7-9B08-E620-FAE5B072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044" y="365125"/>
            <a:ext cx="10828506" cy="539547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8.Calculate temperature in °C and °F from °F and °C respectively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FE6FF-2DAA-C629-E1B4-5ACA61698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294" y="901497"/>
            <a:ext cx="5181600" cy="4351338"/>
          </a:xfrm>
        </p:spPr>
        <p:txBody>
          <a:bodyPr numCol="1"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°F,°C</a:t>
            </a:r>
          </a:p>
          <a:p>
            <a:pPr marL="0" indent="0">
              <a:buNone/>
            </a:pPr>
            <a:r>
              <a:rPr lang="en-IN" sz="1600" dirty="0"/>
              <a:t>Step3. Let </a:t>
            </a:r>
            <a:r>
              <a:rPr lang="en-IN" sz="1600" dirty="0" err="1"/>
              <a:t>fr,cn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Step4. </a:t>
            </a:r>
            <a:r>
              <a:rPr lang="en-IN" sz="1600" dirty="0" err="1"/>
              <a:t>fr</a:t>
            </a:r>
            <a:r>
              <a:rPr lang="en-IN" sz="1600" dirty="0"/>
              <a:t>=(°C*9/5)+32</a:t>
            </a:r>
          </a:p>
          <a:p>
            <a:pPr marL="0" indent="0">
              <a:buNone/>
            </a:pPr>
            <a:r>
              <a:rPr lang="en-IN" sz="1600" dirty="0"/>
              <a:t>Step5. </a:t>
            </a:r>
            <a:r>
              <a:rPr lang="en-IN" sz="1600" dirty="0" err="1"/>
              <a:t>cn</a:t>
            </a:r>
            <a:r>
              <a:rPr lang="en-IN" sz="1600" dirty="0"/>
              <a:t>=5(­°F-32)/9</a:t>
            </a:r>
          </a:p>
          <a:p>
            <a:pPr marL="0" indent="0">
              <a:buNone/>
            </a:pPr>
            <a:r>
              <a:rPr lang="en-IN" sz="1600" dirty="0"/>
              <a:t>Step6. Display </a:t>
            </a:r>
            <a:r>
              <a:rPr lang="en-IN" sz="1600" dirty="0" err="1"/>
              <a:t>fr,cn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Step7.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D6723-201D-52A7-ADC5-BA178A1F9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015" y="901497"/>
            <a:ext cx="5181600" cy="435133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8C4959-91AF-CB05-5D70-78A5FC0354A0}"/>
              </a:ext>
            </a:extLst>
          </p:cNvPr>
          <p:cNvSpPr/>
          <p:nvPr/>
        </p:nvSpPr>
        <p:spPr>
          <a:xfrm>
            <a:off x="8725710" y="1335392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57A4156-B177-1696-93BC-E2B918F17398}"/>
              </a:ext>
            </a:extLst>
          </p:cNvPr>
          <p:cNvSpPr/>
          <p:nvPr/>
        </p:nvSpPr>
        <p:spPr>
          <a:xfrm>
            <a:off x="8083076" y="2099012"/>
            <a:ext cx="2394221" cy="45449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°F ,°C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12D66F-E9C2-4592-8A09-6C7EDF1DB55A}"/>
              </a:ext>
            </a:extLst>
          </p:cNvPr>
          <p:cNvSpPr/>
          <p:nvPr/>
        </p:nvSpPr>
        <p:spPr>
          <a:xfrm>
            <a:off x="8725708" y="592764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EC766C0-1337-F87B-F8A3-FEADA43DB0BD}"/>
              </a:ext>
            </a:extLst>
          </p:cNvPr>
          <p:cNvSpPr/>
          <p:nvPr/>
        </p:nvSpPr>
        <p:spPr>
          <a:xfrm>
            <a:off x="8083077" y="2824972"/>
            <a:ext cx="2394220" cy="45449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Let </a:t>
            </a:r>
            <a:r>
              <a:rPr lang="en-IN" sz="1600" dirty="0" err="1">
                <a:solidFill>
                  <a:schemeClr val="tx1"/>
                </a:solidFill>
              </a:rPr>
              <a:t>fr</a:t>
            </a:r>
            <a:r>
              <a:rPr lang="en-IN" sz="1600" dirty="0">
                <a:solidFill>
                  <a:schemeClr val="tx1"/>
                </a:solidFill>
              </a:rPr>
              <a:t>, </a:t>
            </a:r>
            <a:r>
              <a:rPr lang="en-IN" sz="1600" dirty="0" err="1">
                <a:solidFill>
                  <a:schemeClr val="tx1"/>
                </a:solidFill>
              </a:rPr>
              <a:t>cn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2EDA2D4-AF0F-2D88-4BB1-3A97DFEAF5E1}"/>
              </a:ext>
            </a:extLst>
          </p:cNvPr>
          <p:cNvSpPr/>
          <p:nvPr/>
        </p:nvSpPr>
        <p:spPr>
          <a:xfrm>
            <a:off x="8083077" y="5083596"/>
            <a:ext cx="2394218" cy="45449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Display </a:t>
            </a:r>
            <a:r>
              <a:rPr lang="en-IN" sz="1600" dirty="0" err="1">
                <a:solidFill>
                  <a:schemeClr val="tx1"/>
                </a:solidFill>
              </a:rPr>
              <a:t>fr,cn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73B81-FCB8-7567-58CD-7DF7BEEBD1FD}"/>
              </a:ext>
            </a:extLst>
          </p:cNvPr>
          <p:cNvSpPr/>
          <p:nvPr/>
        </p:nvSpPr>
        <p:spPr>
          <a:xfrm>
            <a:off x="8083076" y="3525384"/>
            <a:ext cx="2394219" cy="4544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solidFill>
                  <a:schemeClr val="tx1"/>
                </a:solidFill>
              </a:rPr>
              <a:t>fr</a:t>
            </a:r>
            <a:r>
              <a:rPr lang="en-IN" sz="1600" dirty="0">
                <a:solidFill>
                  <a:schemeClr val="tx1"/>
                </a:solidFill>
              </a:rPr>
              <a:t> =(°C*9/5)+32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7D41AF-687F-0F3F-971E-88CE06B96EE2}"/>
              </a:ext>
            </a:extLst>
          </p:cNvPr>
          <p:cNvSpPr/>
          <p:nvPr/>
        </p:nvSpPr>
        <p:spPr>
          <a:xfrm>
            <a:off x="8083077" y="4304490"/>
            <a:ext cx="2394218" cy="4544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 </a:t>
            </a:r>
            <a:r>
              <a:rPr lang="en-IN" sz="1600" dirty="0" err="1">
                <a:solidFill>
                  <a:schemeClr val="tx1"/>
                </a:solidFill>
              </a:rPr>
              <a:t>cn</a:t>
            </a:r>
            <a:r>
              <a:rPr lang="en-IN" sz="1600" dirty="0">
                <a:solidFill>
                  <a:schemeClr val="tx1"/>
                </a:solidFill>
              </a:rPr>
              <a:t> =5(°F-32)/9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7B4EDC-CF7D-994C-A83D-790070F74C0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9280187" y="1789890"/>
            <a:ext cx="0" cy="309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581711-42CA-5EB4-52CE-494DF45A4D06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9280187" y="2553511"/>
            <a:ext cx="0" cy="27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C92A36-8E11-AAEB-74EA-0AB6B9A9137C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 flipH="1">
            <a:off x="9280186" y="3279471"/>
            <a:ext cx="1" cy="245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C82C89-F15D-930F-CF42-8B6971E8603D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280186" y="3979883"/>
            <a:ext cx="0" cy="324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A995C1-7816-69E6-CFE9-A55A3D73A350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>
            <a:off x="9280186" y="4758989"/>
            <a:ext cx="0" cy="324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33021C-86E0-04CD-CFC9-7B4E967C92F6}"/>
              </a:ext>
            </a:extLst>
          </p:cNvPr>
          <p:cNvCxnSpPr>
            <a:stCxn id="11" idx="4"/>
            <a:endCxn id="9" idx="0"/>
          </p:cNvCxnSpPr>
          <p:nvPr/>
        </p:nvCxnSpPr>
        <p:spPr>
          <a:xfrm flipH="1">
            <a:off x="9280185" y="5538095"/>
            <a:ext cx="1" cy="389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93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CF9F-7DF7-7D06-C3E9-3308AAAF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9.Swaping btw two no with variable. 10 . Without </a:t>
            </a:r>
            <a:r>
              <a:rPr lang="en-IN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varible</a:t>
            </a: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FBCA-D3E1-6D52-652F-885A8F2A2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1296785"/>
            <a:ext cx="5504411" cy="488017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l,h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Step3. Let=t, l=h, h=t</a:t>
            </a:r>
          </a:p>
          <a:p>
            <a:pPr marL="0" indent="0">
              <a:buNone/>
            </a:pPr>
            <a:r>
              <a:rPr lang="en-IN" sz="1600" dirty="0"/>
              <a:t>Step4. Display </a:t>
            </a:r>
            <a:r>
              <a:rPr lang="en-IN" sz="1600" dirty="0" err="1"/>
              <a:t>l,h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Step5. Stop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Step1. Start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Step2. Input </a:t>
            </a:r>
            <a:r>
              <a:rPr lang="en-I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l,h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Step3. l=</a:t>
            </a:r>
            <a:r>
              <a:rPr lang="en-I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l+h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h=l-h, l=l-h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Step4. Display </a:t>
            </a:r>
            <a:r>
              <a:rPr lang="en-I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l,h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Step5. Stop</a:t>
            </a:r>
          </a:p>
          <a:p>
            <a:pPr marL="0" indent="0">
              <a:buNone/>
            </a:pP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C93E8-0C68-7D76-90E4-3FB00CD6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6785"/>
            <a:ext cx="5181600" cy="488017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2D3BF4-B7AB-0E55-ABBD-EB85512E171B}"/>
              </a:ext>
            </a:extLst>
          </p:cNvPr>
          <p:cNvSpPr/>
          <p:nvPr/>
        </p:nvSpPr>
        <p:spPr>
          <a:xfrm>
            <a:off x="8725708" y="687365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7326B0-8970-4C5A-89F6-B3ED33226254}"/>
              </a:ext>
            </a:extLst>
          </p:cNvPr>
          <p:cNvSpPr/>
          <p:nvPr/>
        </p:nvSpPr>
        <p:spPr>
          <a:xfrm>
            <a:off x="8763000" y="417582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743903-5A91-EAF5-3900-837401240E41}"/>
              </a:ext>
            </a:extLst>
          </p:cNvPr>
          <p:cNvSpPr/>
          <p:nvPr/>
        </p:nvSpPr>
        <p:spPr>
          <a:xfrm>
            <a:off x="8755715" y="622245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7543DD-EEB9-8499-5032-DF3245168D6F}"/>
              </a:ext>
            </a:extLst>
          </p:cNvPr>
          <p:cNvSpPr/>
          <p:nvPr/>
        </p:nvSpPr>
        <p:spPr>
          <a:xfrm>
            <a:off x="8725708" y="352499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7D5DCEF-F8E2-5FCB-6388-90AFA6CFD497}"/>
              </a:ext>
            </a:extLst>
          </p:cNvPr>
          <p:cNvSpPr/>
          <p:nvPr/>
        </p:nvSpPr>
        <p:spPr>
          <a:xfrm>
            <a:off x="7991712" y="1331939"/>
            <a:ext cx="2576946" cy="454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Input </a:t>
            </a:r>
            <a:r>
              <a:rPr lang="en-IN" sz="1600" dirty="0" err="1">
                <a:solidFill>
                  <a:schemeClr val="tx1"/>
                </a:solidFill>
              </a:rPr>
              <a:t>low,high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18796886-20FA-E3D9-1B31-7F89BFB3AD00}"/>
              </a:ext>
            </a:extLst>
          </p:cNvPr>
          <p:cNvSpPr/>
          <p:nvPr/>
        </p:nvSpPr>
        <p:spPr>
          <a:xfrm>
            <a:off x="7991712" y="2878505"/>
            <a:ext cx="2576946" cy="454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Display </a:t>
            </a:r>
            <a:r>
              <a:rPr lang="en-IN" sz="1600" dirty="0" err="1">
                <a:solidFill>
                  <a:schemeClr val="tx1"/>
                </a:solidFill>
              </a:rPr>
              <a:t>low,high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DAE62EA4-6587-0301-BA8B-246EC2E88675}"/>
              </a:ext>
            </a:extLst>
          </p:cNvPr>
          <p:cNvSpPr/>
          <p:nvPr/>
        </p:nvSpPr>
        <p:spPr>
          <a:xfrm>
            <a:off x="7138272" y="5597808"/>
            <a:ext cx="2576946" cy="454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6C24601C-7EFF-FFB3-1F29-1F4AFBC2A2B2}"/>
              </a:ext>
            </a:extLst>
          </p:cNvPr>
          <p:cNvSpPr/>
          <p:nvPr/>
        </p:nvSpPr>
        <p:spPr>
          <a:xfrm>
            <a:off x="8426745" y="4656697"/>
            <a:ext cx="2576946" cy="454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F03ADC-427F-7E4B-E1CA-D289B282FC83}"/>
              </a:ext>
            </a:extLst>
          </p:cNvPr>
          <p:cNvSpPr/>
          <p:nvPr/>
        </p:nvSpPr>
        <p:spPr>
          <a:xfrm>
            <a:off x="8021719" y="1962942"/>
            <a:ext cx="2576946" cy="6428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Let t = low , low=high,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high=t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A8676-F0EA-80CE-D582-83EA1CF6D962}"/>
              </a:ext>
            </a:extLst>
          </p:cNvPr>
          <p:cNvSpPr/>
          <p:nvPr/>
        </p:nvSpPr>
        <p:spPr>
          <a:xfrm>
            <a:off x="7957563" y="5121477"/>
            <a:ext cx="2576946" cy="6428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Let t = low , low=high,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high=t</a:t>
            </a:r>
          </a:p>
        </p:txBody>
      </p:sp>
    </p:spTree>
    <p:extLst>
      <p:ext uri="{BB962C8B-B14F-4D97-AF65-F5344CB8AC3E}">
        <p14:creationId xmlns:p14="http://schemas.microsoft.com/office/powerpoint/2010/main" val="353731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786F-2F5D-48A1-E496-E2C3C65E9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52D9-64F8-6C06-4E9C-FF2FF831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6"/>
            <a:ext cx="10838411" cy="578458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11. Find last digit of a no a)with modulus b)without modulus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071E0-DA6A-E480-41F0-AE826FC22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43584"/>
            <a:ext cx="5504411" cy="5233379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n</a:t>
            </a:r>
          </a:p>
          <a:p>
            <a:pPr marL="0" indent="0">
              <a:buNone/>
            </a:pPr>
            <a:r>
              <a:rPr lang="en-IN" sz="1600" dirty="0"/>
              <a:t>Step3. n=n%10</a:t>
            </a:r>
          </a:p>
          <a:p>
            <a:pPr marL="0" indent="0">
              <a:buNone/>
            </a:pPr>
            <a:r>
              <a:rPr lang="en-IN" sz="1600" dirty="0"/>
              <a:t>Step4. Display n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</a:p>
          <a:p>
            <a:endParaRPr lang="en-IN" sz="2000" i="1" u="sng" dirty="0"/>
          </a:p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n</a:t>
            </a:r>
          </a:p>
          <a:p>
            <a:pPr marL="0" indent="0">
              <a:buNone/>
            </a:pPr>
            <a:r>
              <a:rPr lang="en-IN" sz="1600" dirty="0"/>
              <a:t>Step3. n=n-(n/10*10)</a:t>
            </a:r>
          </a:p>
          <a:p>
            <a:pPr marL="0" indent="0">
              <a:buNone/>
            </a:pPr>
            <a:r>
              <a:rPr lang="en-IN" sz="1600" dirty="0"/>
              <a:t>Step4. Display n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460A-AB44-76CD-3F3F-6FED565D5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43584"/>
            <a:ext cx="5181600" cy="5233379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  <a:p>
            <a:pPr marL="0" indent="0">
              <a:buNone/>
            </a:pPr>
            <a:r>
              <a:rPr lang="en-IN" sz="2000" dirty="0"/>
              <a:t>a)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242867-86FC-286C-4F4D-236B02BED1CA}"/>
              </a:ext>
            </a:extLst>
          </p:cNvPr>
          <p:cNvSpPr/>
          <p:nvPr/>
        </p:nvSpPr>
        <p:spPr>
          <a:xfrm>
            <a:off x="9265594" y="68103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13D94D-B90B-A051-0676-00BEAA539F33}"/>
              </a:ext>
            </a:extLst>
          </p:cNvPr>
          <p:cNvSpPr/>
          <p:nvPr/>
        </p:nvSpPr>
        <p:spPr>
          <a:xfrm>
            <a:off x="9265594" y="382376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08215F-99D9-CE79-50FC-B3BD0B24C91A}"/>
              </a:ext>
            </a:extLst>
          </p:cNvPr>
          <p:cNvSpPr/>
          <p:nvPr/>
        </p:nvSpPr>
        <p:spPr>
          <a:xfrm>
            <a:off x="9265594" y="622298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1998D-D7F9-2C77-B9CA-359AA9E20512}"/>
              </a:ext>
            </a:extLst>
          </p:cNvPr>
          <p:cNvSpPr/>
          <p:nvPr/>
        </p:nvSpPr>
        <p:spPr>
          <a:xfrm>
            <a:off x="9265594" y="299008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973CA911-A7B0-C78F-8267-C658BF9442E1}"/>
              </a:ext>
            </a:extLst>
          </p:cNvPr>
          <p:cNvSpPr/>
          <p:nvPr/>
        </p:nvSpPr>
        <p:spPr>
          <a:xfrm>
            <a:off x="8793801" y="1342080"/>
            <a:ext cx="2052539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Input n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7225D51-F749-B916-5630-6E2314C67EE7}"/>
              </a:ext>
            </a:extLst>
          </p:cNvPr>
          <p:cNvSpPr/>
          <p:nvPr/>
        </p:nvSpPr>
        <p:spPr>
          <a:xfrm>
            <a:off x="8763000" y="2378500"/>
            <a:ext cx="2052539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Display n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940585C-93C0-AFFE-8BBA-0D6994ABFA52}"/>
              </a:ext>
            </a:extLst>
          </p:cNvPr>
          <p:cNvSpPr/>
          <p:nvPr/>
        </p:nvSpPr>
        <p:spPr>
          <a:xfrm>
            <a:off x="8784073" y="4414369"/>
            <a:ext cx="2052539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Input n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835FFBCC-8C09-94EA-2A51-9DBE32F66E09}"/>
              </a:ext>
            </a:extLst>
          </p:cNvPr>
          <p:cNvSpPr/>
          <p:nvPr/>
        </p:nvSpPr>
        <p:spPr>
          <a:xfrm>
            <a:off x="8793801" y="5657744"/>
            <a:ext cx="2052539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Display 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A72BFF-3468-0AA7-5723-BE8993C561B6}"/>
              </a:ext>
            </a:extLst>
          </p:cNvPr>
          <p:cNvSpPr/>
          <p:nvPr/>
        </p:nvSpPr>
        <p:spPr>
          <a:xfrm>
            <a:off x="8793801" y="1860290"/>
            <a:ext cx="2052539" cy="3599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n =n%10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1E86AA-BDBC-6B44-55B8-0FA6C43A9E5F}"/>
              </a:ext>
            </a:extLst>
          </p:cNvPr>
          <p:cNvSpPr/>
          <p:nvPr/>
        </p:nvSpPr>
        <p:spPr>
          <a:xfrm>
            <a:off x="8793801" y="5036839"/>
            <a:ext cx="2052539" cy="3599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n= n-(n/10*10)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A62B9F-311C-E4F9-9482-A03A6734F09E}"/>
              </a:ext>
            </a:extLst>
          </p:cNvPr>
          <p:cNvCxnSpPr>
            <a:stCxn id="6" idx="4"/>
            <a:endCxn id="10" idx="0"/>
          </p:cNvCxnSpPr>
          <p:nvPr/>
        </p:nvCxnSpPr>
        <p:spPr>
          <a:xfrm>
            <a:off x="9820071" y="1135535"/>
            <a:ext cx="0" cy="206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2FA7DC-FD43-D329-650F-A13BF29AAF75}"/>
              </a:ext>
            </a:extLst>
          </p:cNvPr>
          <p:cNvCxnSpPr>
            <a:stCxn id="10" idx="4"/>
            <a:endCxn id="14" idx="0"/>
          </p:cNvCxnSpPr>
          <p:nvPr/>
        </p:nvCxnSpPr>
        <p:spPr>
          <a:xfrm>
            <a:off x="9820071" y="1702003"/>
            <a:ext cx="0" cy="15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9908DF-96F3-CF28-A0DD-1B54E760E409}"/>
              </a:ext>
            </a:extLst>
          </p:cNvPr>
          <p:cNvCxnSpPr>
            <a:stCxn id="14" idx="2"/>
            <a:endCxn id="11" idx="1"/>
          </p:cNvCxnSpPr>
          <p:nvPr/>
        </p:nvCxnSpPr>
        <p:spPr>
          <a:xfrm>
            <a:off x="9820071" y="2220213"/>
            <a:ext cx="14189" cy="15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DB373D-F2FE-4F1A-F29D-ACF012C0A954}"/>
              </a:ext>
            </a:extLst>
          </p:cNvPr>
          <p:cNvCxnSpPr>
            <a:stCxn id="7" idx="4"/>
            <a:endCxn id="12" idx="0"/>
          </p:cNvCxnSpPr>
          <p:nvPr/>
        </p:nvCxnSpPr>
        <p:spPr>
          <a:xfrm flipH="1">
            <a:off x="9810343" y="4278267"/>
            <a:ext cx="9728" cy="13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C57505-0DA3-C142-D9EA-C03D500CC6CF}"/>
              </a:ext>
            </a:extLst>
          </p:cNvPr>
          <p:cNvCxnSpPr>
            <a:stCxn id="12" idx="4"/>
            <a:endCxn id="15" idx="0"/>
          </p:cNvCxnSpPr>
          <p:nvPr/>
        </p:nvCxnSpPr>
        <p:spPr>
          <a:xfrm>
            <a:off x="9810343" y="4774292"/>
            <a:ext cx="9728" cy="26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658405-29A6-BEAE-2E29-4EC525D953F7}"/>
              </a:ext>
            </a:extLst>
          </p:cNvPr>
          <p:cNvCxnSpPr>
            <a:stCxn id="15" idx="2"/>
            <a:endCxn id="13" idx="0"/>
          </p:cNvCxnSpPr>
          <p:nvPr/>
        </p:nvCxnSpPr>
        <p:spPr>
          <a:xfrm>
            <a:off x="9820071" y="5396762"/>
            <a:ext cx="0" cy="26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8B9C9A-A9BC-BC68-F861-6C596E838CFF}"/>
              </a:ext>
            </a:extLst>
          </p:cNvPr>
          <p:cNvCxnSpPr>
            <a:stCxn id="13" idx="4"/>
            <a:endCxn id="8" idx="0"/>
          </p:cNvCxnSpPr>
          <p:nvPr/>
        </p:nvCxnSpPr>
        <p:spPr>
          <a:xfrm>
            <a:off x="9820071" y="6017667"/>
            <a:ext cx="0" cy="205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76415B-922A-429D-786E-99DB600DE991}"/>
              </a:ext>
            </a:extLst>
          </p:cNvPr>
          <p:cNvCxnSpPr>
            <a:stCxn id="11" idx="4"/>
            <a:endCxn id="9" idx="0"/>
          </p:cNvCxnSpPr>
          <p:nvPr/>
        </p:nvCxnSpPr>
        <p:spPr>
          <a:xfrm>
            <a:off x="9789270" y="2738423"/>
            <a:ext cx="30801" cy="25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57C95D1-1F3D-0CEA-A1E7-9044E9A6FD93}"/>
              </a:ext>
            </a:extLst>
          </p:cNvPr>
          <p:cNvSpPr txBox="1"/>
          <p:nvPr/>
        </p:nvSpPr>
        <p:spPr>
          <a:xfrm>
            <a:off x="6172200" y="3560273"/>
            <a:ext cx="70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43007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CD5C-4EB3-B65A-68F6-7B24B351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DE07-58B1-DA0A-68CA-6FFA1511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 Calculate compound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9B54-EC0B-9B60-4AEF-F14D2C7D5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p,r,n,t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Step3. r=r/100</a:t>
            </a:r>
          </a:p>
          <a:p>
            <a:pPr marL="0" indent="0">
              <a:buNone/>
            </a:pPr>
            <a:r>
              <a:rPr lang="en-IN" sz="1600" dirty="0"/>
              <a:t>              </a:t>
            </a:r>
            <a:r>
              <a:rPr lang="en-IN" sz="1800" dirty="0"/>
              <a:t> a=p*(1+r/n)</a:t>
            </a:r>
            <a:r>
              <a:rPr lang="en-IN" sz="1800" baseline="30000" dirty="0"/>
              <a:t>n*t </a:t>
            </a:r>
          </a:p>
          <a:p>
            <a:pPr marL="0" indent="0">
              <a:buNone/>
            </a:pPr>
            <a:r>
              <a:rPr lang="en-IN" sz="1600" dirty="0"/>
              <a:t>Step4. Display a</a:t>
            </a:r>
          </a:p>
          <a:p>
            <a:pPr marL="0" indent="0">
              <a:buNone/>
            </a:pPr>
            <a:r>
              <a:rPr lang="en-IN" sz="1600" dirty="0"/>
              <a:t>Step5.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EA60B-520D-217C-0D27-FBBA552AD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81B59C-0A27-5E56-34E3-7A3CAFAF05C9}"/>
              </a:ext>
            </a:extLst>
          </p:cNvPr>
          <p:cNvSpPr/>
          <p:nvPr/>
        </p:nvSpPr>
        <p:spPr>
          <a:xfrm>
            <a:off x="9265593" y="642002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6C9D00-0B02-E94B-EB8B-4BF60FCEBFF1}"/>
              </a:ext>
            </a:extLst>
          </p:cNvPr>
          <p:cNvSpPr/>
          <p:nvPr/>
        </p:nvSpPr>
        <p:spPr>
          <a:xfrm>
            <a:off x="9265593" y="4941674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CFE1A88-0334-0000-5B1A-681F4AF89B5B}"/>
              </a:ext>
            </a:extLst>
          </p:cNvPr>
          <p:cNvSpPr/>
          <p:nvPr/>
        </p:nvSpPr>
        <p:spPr>
          <a:xfrm>
            <a:off x="7743215" y="1563427"/>
            <a:ext cx="4153711" cy="761484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tx1"/>
                </a:solidFill>
              </a:rPr>
              <a:t>Input principal, rates, applied per time period, period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41CE70-98BB-2E37-8CD6-EB1C1879010E}"/>
              </a:ext>
            </a:extLst>
          </p:cNvPr>
          <p:cNvSpPr/>
          <p:nvPr/>
        </p:nvSpPr>
        <p:spPr>
          <a:xfrm>
            <a:off x="7743215" y="2791838"/>
            <a:ext cx="4153711" cy="7614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r=r/100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a=p*(1+r/n)</a:t>
            </a:r>
            <a:r>
              <a:rPr lang="en-IN" sz="2000" baseline="30000" dirty="0">
                <a:solidFill>
                  <a:schemeClr val="tx1"/>
                </a:solidFill>
              </a:rPr>
              <a:t>n*t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C7852667-E8DF-B43C-24FC-40CF695D9ACE}"/>
              </a:ext>
            </a:extLst>
          </p:cNvPr>
          <p:cNvSpPr/>
          <p:nvPr/>
        </p:nvSpPr>
        <p:spPr>
          <a:xfrm>
            <a:off x="7811309" y="4020249"/>
            <a:ext cx="4017522" cy="454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Display   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AD515D-6A1E-EFA7-99E4-F82515A76EC5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9820070" y="1096500"/>
            <a:ext cx="1" cy="46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B0ECCD-D354-3578-F49F-E486982129D3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9820071" y="2324911"/>
            <a:ext cx="0" cy="46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BFFDA3-6E80-D0E2-5B10-A9FFF8151B10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9820070" y="3553322"/>
            <a:ext cx="1" cy="46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7C9FEB-6011-3167-5D5E-4C177695C3BC}"/>
              </a:ext>
            </a:extLst>
          </p:cNvPr>
          <p:cNvCxnSpPr>
            <a:stCxn id="11" idx="4"/>
            <a:endCxn id="7" idx="0"/>
          </p:cNvCxnSpPr>
          <p:nvPr/>
        </p:nvCxnSpPr>
        <p:spPr>
          <a:xfrm>
            <a:off x="9820070" y="4474747"/>
            <a:ext cx="0" cy="46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69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52E5-CCC7-1E5E-0900-2CF0570B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80B2-6123-CE60-3649-DE80F0AD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13. Calculate area and </a:t>
            </a:r>
            <a:r>
              <a:rPr lang="en-IN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peremeter</a:t>
            </a: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of a </a:t>
            </a:r>
            <a:r>
              <a:rPr lang="en-IN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rectengular</a:t>
            </a: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BDCD-31B5-EA6E-8379-CE7C54F85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Pseudocode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l,w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Step3. a=l*w, p=2(</a:t>
            </a:r>
            <a:r>
              <a:rPr lang="en-IN" sz="1600" dirty="0" err="1"/>
              <a:t>l+w</a:t>
            </a: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/>
              <a:t>Step4. Display </a:t>
            </a:r>
            <a:r>
              <a:rPr lang="en-IN" sz="1600" dirty="0" err="1"/>
              <a:t>a,p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Step5. Stop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14. Find floor and ceil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9B7BC-A867-E48B-26EF-F986280C2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3C8626-3B09-96E2-F576-112F17F43D46}"/>
              </a:ext>
            </a:extLst>
          </p:cNvPr>
          <p:cNvSpPr/>
          <p:nvPr/>
        </p:nvSpPr>
        <p:spPr>
          <a:xfrm>
            <a:off x="9265593" y="642002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647D57-CD09-CD87-92E4-080F93D99AD2}"/>
              </a:ext>
            </a:extLst>
          </p:cNvPr>
          <p:cNvSpPr/>
          <p:nvPr/>
        </p:nvSpPr>
        <p:spPr>
          <a:xfrm>
            <a:off x="9265593" y="326839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6651706-1856-252D-13E4-B03858856B71}"/>
              </a:ext>
            </a:extLst>
          </p:cNvPr>
          <p:cNvSpPr/>
          <p:nvPr/>
        </p:nvSpPr>
        <p:spPr>
          <a:xfrm>
            <a:off x="8735436" y="1286550"/>
            <a:ext cx="2169268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</a:t>
            </a:r>
            <a:r>
              <a:rPr lang="en-IN" dirty="0" err="1">
                <a:solidFill>
                  <a:schemeClr val="tx1"/>
                </a:solidFill>
              </a:rPr>
              <a:t>len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dirty="0" err="1">
                <a:solidFill>
                  <a:schemeClr val="tx1"/>
                </a:solidFill>
              </a:rPr>
              <a:t>wid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1F373188-0E00-DC35-8491-623E12CB5F6A}"/>
              </a:ext>
            </a:extLst>
          </p:cNvPr>
          <p:cNvSpPr/>
          <p:nvPr/>
        </p:nvSpPr>
        <p:spPr>
          <a:xfrm>
            <a:off x="8735436" y="2708697"/>
            <a:ext cx="2169268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Display </a:t>
            </a:r>
            <a:r>
              <a:rPr lang="en-IN" dirty="0" err="1">
                <a:solidFill>
                  <a:schemeClr val="tx1"/>
                </a:solidFill>
              </a:rPr>
              <a:t>a,p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45C57-1A42-3307-7D85-D2BB9EE4FE80}"/>
              </a:ext>
            </a:extLst>
          </p:cNvPr>
          <p:cNvSpPr/>
          <p:nvPr/>
        </p:nvSpPr>
        <p:spPr>
          <a:xfrm>
            <a:off x="8763000" y="1846251"/>
            <a:ext cx="2169268" cy="67239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a=l*w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p=2(</a:t>
            </a:r>
            <a:r>
              <a:rPr lang="en-IN" dirty="0" err="1">
                <a:solidFill>
                  <a:schemeClr val="tx1"/>
                </a:solidFill>
              </a:rPr>
              <a:t>l+w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0B6354-B13E-2BE1-9C54-35EC7545DA4F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9820070" y="1096500"/>
            <a:ext cx="0" cy="19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C87F66-DAD5-3C88-ADDA-C4D033E37D23}"/>
              </a:ext>
            </a:extLst>
          </p:cNvPr>
          <p:cNvCxnSpPr>
            <a:stCxn id="7" idx="4"/>
            <a:endCxn id="9" idx="0"/>
          </p:cNvCxnSpPr>
          <p:nvPr/>
        </p:nvCxnSpPr>
        <p:spPr>
          <a:xfrm>
            <a:off x="9820070" y="1656201"/>
            <a:ext cx="27564" cy="19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7B2B09-B9B0-5054-2509-E215EFF3996B}"/>
              </a:ext>
            </a:extLst>
          </p:cNvPr>
          <p:cNvCxnSpPr>
            <a:stCxn id="9" idx="2"/>
            <a:endCxn id="8" idx="1"/>
          </p:cNvCxnSpPr>
          <p:nvPr/>
        </p:nvCxnSpPr>
        <p:spPr>
          <a:xfrm>
            <a:off x="9847634" y="2518647"/>
            <a:ext cx="18642" cy="19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E43D75-485A-4519-6A4E-98A01B7E70F6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820070" y="3078348"/>
            <a:ext cx="0" cy="19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00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5127-5CE0-104C-0D00-10C81E2A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79D3-A36F-A900-A1D5-FD7A7D21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15.Calculate quadratic equation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3E997-C28D-CB34-3276-00257FF7D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a,b</a:t>
            </a:r>
            <a:r>
              <a:rPr lang="en-IN" sz="1600" dirty="0"/>
              <a:t>,</a:t>
            </a:r>
          </a:p>
          <a:p>
            <a:pPr marL="0" indent="0">
              <a:buNone/>
            </a:pPr>
            <a:r>
              <a:rPr lang="en-IN" sz="1600" dirty="0"/>
              <a:t>Step3. </a:t>
            </a: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X1=(-b-√(b</a:t>
            </a:r>
            <a:r>
              <a:rPr lang="en-IN" sz="1600" baseline="30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-4*a*c))/2*a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              X2=(-b+√(b</a:t>
            </a:r>
            <a:r>
              <a:rPr lang="en-IN" sz="1600" baseline="30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-4*a*c))/2*a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Step4. Display X1,X2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Step5. Stop</a:t>
            </a:r>
          </a:p>
          <a:p>
            <a:pPr marL="0" indent="0">
              <a:buNone/>
            </a:pP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16. Check roll 100 present or not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2E420-40BC-0CDC-8DA4-1D329CA5F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69251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A002A-CFB2-D949-CAC9-59575902DEB1}"/>
              </a:ext>
            </a:extLst>
          </p:cNvPr>
          <p:cNvSpPr/>
          <p:nvPr/>
        </p:nvSpPr>
        <p:spPr>
          <a:xfrm>
            <a:off x="9265593" y="642002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8DD53E-58DE-AE37-FCD7-10F04AAAD1A0}"/>
              </a:ext>
            </a:extLst>
          </p:cNvPr>
          <p:cNvSpPr/>
          <p:nvPr/>
        </p:nvSpPr>
        <p:spPr>
          <a:xfrm>
            <a:off x="9265593" y="3475594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E1BBD98-42A1-3C73-2FC9-08F79A6243A1}"/>
              </a:ext>
            </a:extLst>
          </p:cNvPr>
          <p:cNvSpPr/>
          <p:nvPr/>
        </p:nvSpPr>
        <p:spPr>
          <a:xfrm>
            <a:off x="8511700" y="1323749"/>
            <a:ext cx="261674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a,b,c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D514ABA8-5877-974E-2DB3-0DE5D296C6E4}"/>
              </a:ext>
            </a:extLst>
          </p:cNvPr>
          <p:cNvSpPr/>
          <p:nvPr/>
        </p:nvSpPr>
        <p:spPr>
          <a:xfrm>
            <a:off x="8511700" y="2900787"/>
            <a:ext cx="261674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Display X1,X2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A9813-3577-DBB9-153D-E40E292E3332}"/>
              </a:ext>
            </a:extLst>
          </p:cNvPr>
          <p:cNvSpPr/>
          <p:nvPr/>
        </p:nvSpPr>
        <p:spPr>
          <a:xfrm>
            <a:off x="8511700" y="1944414"/>
            <a:ext cx="2616740" cy="72912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X1=(-b-√(b</a:t>
            </a:r>
            <a:r>
              <a:rPr lang="en-IN" baseline="30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-4*a*c))/2*a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X2=(-b+√(b</a:t>
            </a:r>
            <a:r>
              <a:rPr lang="en-IN" baseline="30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-4*a*c))/2*a</a:t>
            </a:r>
          </a:p>
          <a:p>
            <a:pPr algn="ctr"/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486DB2-D394-14DC-AB3B-6AFB6C9C2C3A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9820070" y="1096500"/>
            <a:ext cx="0" cy="22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F100D2-E575-E461-2392-3E87AFE94A0A}"/>
              </a:ext>
            </a:extLst>
          </p:cNvPr>
          <p:cNvCxnSpPr>
            <a:stCxn id="7" idx="4"/>
            <a:endCxn id="9" idx="0"/>
          </p:cNvCxnSpPr>
          <p:nvPr/>
        </p:nvCxnSpPr>
        <p:spPr>
          <a:xfrm>
            <a:off x="9820070" y="1693400"/>
            <a:ext cx="0" cy="251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DDC1FB-987E-1BBA-4BA6-379F0702BBAC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9820070" y="2673538"/>
            <a:ext cx="0" cy="22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9FD156-E1A3-B64F-409C-9CC31BBCB383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820070" y="3270438"/>
            <a:ext cx="0" cy="205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3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1BE0-D2FE-1CCB-7A13-750E4B2B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C643-E07D-BA36-0721-069F373DC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17. Check a no even or odd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33DB-B28D-36EF-2ECF-97FA329C5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a</a:t>
            </a:r>
          </a:p>
          <a:p>
            <a:pPr marL="0" indent="0">
              <a:buNone/>
            </a:pPr>
            <a:r>
              <a:rPr lang="en-IN" sz="1800" dirty="0"/>
              <a:t>Step3. If a%2==0 , go to step 4</a:t>
            </a:r>
          </a:p>
          <a:p>
            <a:pPr marL="0" indent="0">
              <a:buNone/>
            </a:pPr>
            <a:r>
              <a:rPr lang="en-IN" sz="1800" dirty="0"/>
              <a:t>               otherwise go to step 5</a:t>
            </a:r>
          </a:p>
          <a:p>
            <a:pPr marL="0" indent="0">
              <a:buNone/>
            </a:pPr>
            <a:r>
              <a:rPr lang="en-IN" sz="1800" dirty="0"/>
              <a:t>Step4. Display even , go to step 6</a:t>
            </a:r>
          </a:p>
          <a:p>
            <a:pPr marL="0" indent="0">
              <a:buNone/>
            </a:pPr>
            <a:r>
              <a:rPr lang="en-IN" sz="1800" dirty="0"/>
              <a:t>Step5. Display odd</a:t>
            </a:r>
          </a:p>
          <a:p>
            <a:pPr marL="0" indent="0">
              <a:buNone/>
            </a:pPr>
            <a:r>
              <a:rPr lang="en-IN" sz="1800" dirty="0"/>
              <a:t>Step6.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72201-B736-441F-347F-123B313A8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40A48F-A36A-E047-25B4-A33B6A5FE408}"/>
              </a:ext>
            </a:extLst>
          </p:cNvPr>
          <p:cNvSpPr/>
          <p:nvPr/>
        </p:nvSpPr>
        <p:spPr>
          <a:xfrm>
            <a:off x="8628434" y="68103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41BDBB-0FA7-9633-5118-1FA771286CD1}"/>
              </a:ext>
            </a:extLst>
          </p:cNvPr>
          <p:cNvSpPr/>
          <p:nvPr/>
        </p:nvSpPr>
        <p:spPr>
          <a:xfrm>
            <a:off x="8628434" y="375731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1EFF35AF-6F6A-89FC-B99A-61B60BE5AB02}"/>
              </a:ext>
            </a:extLst>
          </p:cNvPr>
          <p:cNvSpPr/>
          <p:nvPr/>
        </p:nvSpPr>
        <p:spPr>
          <a:xfrm>
            <a:off x="8543319" y="1777983"/>
            <a:ext cx="1279183" cy="1021405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If a%2 ==0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866965FB-5F6A-1566-882F-B885153C3934}"/>
              </a:ext>
            </a:extLst>
          </p:cNvPr>
          <p:cNvSpPr/>
          <p:nvPr/>
        </p:nvSpPr>
        <p:spPr>
          <a:xfrm>
            <a:off x="8202852" y="1280188"/>
            <a:ext cx="1960118" cy="3337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a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01EDE9D-C3A4-CE01-02FA-A6497438EAB5}"/>
              </a:ext>
            </a:extLst>
          </p:cNvPr>
          <p:cNvSpPr/>
          <p:nvPr/>
        </p:nvSpPr>
        <p:spPr>
          <a:xfrm>
            <a:off x="7097951" y="3111464"/>
            <a:ext cx="1960118" cy="3337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Display even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74A8FB9D-AC22-651B-D157-67C1C0138142}"/>
              </a:ext>
            </a:extLst>
          </p:cNvPr>
          <p:cNvSpPr/>
          <p:nvPr/>
        </p:nvSpPr>
        <p:spPr>
          <a:xfrm>
            <a:off x="9303063" y="3111464"/>
            <a:ext cx="1960118" cy="3337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Display odd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E6BAF8-F703-DA00-AE8F-DDEB40518F09}"/>
              </a:ext>
            </a:extLst>
          </p:cNvPr>
          <p:cNvCxnSpPr>
            <a:stCxn id="5" idx="4"/>
            <a:endCxn id="16" idx="0"/>
          </p:cNvCxnSpPr>
          <p:nvPr/>
        </p:nvCxnSpPr>
        <p:spPr>
          <a:xfrm>
            <a:off x="9182911" y="1135535"/>
            <a:ext cx="0" cy="144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EF8F10-C08F-37CF-3B1D-94237644AFE7}"/>
              </a:ext>
            </a:extLst>
          </p:cNvPr>
          <p:cNvCxnSpPr>
            <a:stCxn id="16" idx="4"/>
            <a:endCxn id="7" idx="0"/>
          </p:cNvCxnSpPr>
          <p:nvPr/>
        </p:nvCxnSpPr>
        <p:spPr>
          <a:xfrm>
            <a:off x="9182911" y="1613967"/>
            <a:ext cx="0" cy="164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3A027F2-EFAF-C305-97D6-8F5F57B7FA9F}"/>
              </a:ext>
            </a:extLst>
          </p:cNvPr>
          <p:cNvCxnSpPr>
            <a:stCxn id="17" idx="4"/>
            <a:endCxn id="6" idx="2"/>
          </p:cNvCxnSpPr>
          <p:nvPr/>
        </p:nvCxnSpPr>
        <p:spPr>
          <a:xfrm rot="16200000" flipH="1">
            <a:off x="8083560" y="3439693"/>
            <a:ext cx="539325" cy="5504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5E0F20A-62CA-4B5A-2237-2BCFC1EC17A0}"/>
              </a:ext>
            </a:extLst>
          </p:cNvPr>
          <p:cNvCxnSpPr>
            <a:stCxn id="18" idx="4"/>
            <a:endCxn id="6" idx="6"/>
          </p:cNvCxnSpPr>
          <p:nvPr/>
        </p:nvCxnSpPr>
        <p:spPr>
          <a:xfrm rot="5400000">
            <a:off x="9740593" y="3442038"/>
            <a:ext cx="539325" cy="5457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524B88D-FCEF-6010-4F57-509EBA6C6105}"/>
              </a:ext>
            </a:extLst>
          </p:cNvPr>
          <p:cNvCxnSpPr>
            <a:stCxn id="7" idx="1"/>
            <a:endCxn id="17" idx="0"/>
          </p:cNvCxnSpPr>
          <p:nvPr/>
        </p:nvCxnSpPr>
        <p:spPr>
          <a:xfrm rot="10800000" flipV="1">
            <a:off x="8078011" y="2288686"/>
            <a:ext cx="465309" cy="8227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E13E0E3-AC1F-59E1-C184-D89D311A7D68}"/>
              </a:ext>
            </a:extLst>
          </p:cNvPr>
          <p:cNvCxnSpPr>
            <a:stCxn id="7" idx="3"/>
            <a:endCxn id="18" idx="0"/>
          </p:cNvCxnSpPr>
          <p:nvPr/>
        </p:nvCxnSpPr>
        <p:spPr>
          <a:xfrm>
            <a:off x="9822502" y="2288686"/>
            <a:ext cx="460620" cy="8227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9D8BE2C-0722-F5A0-60D8-9D926DE0238A}"/>
              </a:ext>
            </a:extLst>
          </p:cNvPr>
          <p:cNvSpPr txBox="1"/>
          <p:nvPr/>
        </p:nvSpPr>
        <p:spPr>
          <a:xfrm>
            <a:off x="8054820" y="2033204"/>
            <a:ext cx="739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779D40-6F81-2B00-8494-B7D5E747B290}"/>
              </a:ext>
            </a:extLst>
          </p:cNvPr>
          <p:cNvSpPr txBox="1"/>
          <p:nvPr/>
        </p:nvSpPr>
        <p:spPr>
          <a:xfrm>
            <a:off x="9822502" y="2042931"/>
            <a:ext cx="739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1422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3E00-B6DA-A893-F2DF-F887D5FB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54F3-3428-EA5D-E53A-542C94BC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18. Greater between two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6F2F-A3FF-2FDB-9AEA-830E8C12A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</a:t>
            </a:r>
            <a:r>
              <a:rPr lang="en-IN" sz="1800" dirty="0" err="1"/>
              <a:t>a.b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Step3. If a&gt;b then go to step 4</a:t>
            </a:r>
          </a:p>
          <a:p>
            <a:pPr marL="0" indent="0">
              <a:buNone/>
            </a:pPr>
            <a:r>
              <a:rPr lang="en-IN" sz="1800" dirty="0"/>
              <a:t>               otherwise go to step 5</a:t>
            </a:r>
          </a:p>
          <a:p>
            <a:pPr marL="0" indent="0">
              <a:buNone/>
            </a:pPr>
            <a:r>
              <a:rPr lang="en-IN" sz="1800" dirty="0"/>
              <a:t>Step4. Display a, go to Step 6</a:t>
            </a:r>
          </a:p>
          <a:p>
            <a:pPr marL="0" indent="0">
              <a:buNone/>
            </a:pPr>
            <a:r>
              <a:rPr lang="en-IN" sz="1800" dirty="0"/>
              <a:t>Step5. Display b</a:t>
            </a:r>
          </a:p>
          <a:p>
            <a:pPr marL="0" indent="0">
              <a:buNone/>
            </a:pPr>
            <a:r>
              <a:rPr lang="en-IN" sz="1800" dirty="0"/>
              <a:t>Step6.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3147-40E8-639F-7193-3D641822C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32E068-39C8-3C37-78A5-E8B0F1940AF9}"/>
              </a:ext>
            </a:extLst>
          </p:cNvPr>
          <p:cNvSpPr/>
          <p:nvPr/>
        </p:nvSpPr>
        <p:spPr>
          <a:xfrm>
            <a:off x="8763000" y="59730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B5A624-DB19-AAEF-A455-B2EED59A46BC}"/>
              </a:ext>
            </a:extLst>
          </p:cNvPr>
          <p:cNvSpPr/>
          <p:nvPr/>
        </p:nvSpPr>
        <p:spPr>
          <a:xfrm>
            <a:off x="8763000" y="416597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876ABD25-167A-3E10-21FE-6E5707A2E894}"/>
              </a:ext>
            </a:extLst>
          </p:cNvPr>
          <p:cNvSpPr/>
          <p:nvPr/>
        </p:nvSpPr>
        <p:spPr>
          <a:xfrm>
            <a:off x="8681124" y="1865368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a&gt;b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92DD012-A252-CC8F-6DD3-0623671C1240}"/>
              </a:ext>
            </a:extLst>
          </p:cNvPr>
          <p:cNvSpPr/>
          <p:nvPr/>
        </p:nvSpPr>
        <p:spPr>
          <a:xfrm>
            <a:off x="8439556" y="1296287"/>
            <a:ext cx="1755841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a,b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5CD0581-3AD9-9ADA-4AAF-74D1F5A3712D}"/>
              </a:ext>
            </a:extLst>
          </p:cNvPr>
          <p:cNvSpPr/>
          <p:nvPr/>
        </p:nvSpPr>
        <p:spPr>
          <a:xfrm>
            <a:off x="7459492" y="3385793"/>
            <a:ext cx="1755841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Display a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23B254F-B47A-8001-5828-F81E86919E5B}"/>
              </a:ext>
            </a:extLst>
          </p:cNvPr>
          <p:cNvSpPr/>
          <p:nvPr/>
        </p:nvSpPr>
        <p:spPr>
          <a:xfrm>
            <a:off x="9406646" y="3376585"/>
            <a:ext cx="1755841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Display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81C298-F097-567C-ACC6-93971AE63D16}"/>
              </a:ext>
            </a:extLst>
          </p:cNvPr>
          <p:cNvCxnSpPr>
            <a:stCxn id="5" idx="4"/>
            <a:endCxn id="8" idx="0"/>
          </p:cNvCxnSpPr>
          <p:nvPr/>
        </p:nvCxnSpPr>
        <p:spPr>
          <a:xfrm>
            <a:off x="9317477" y="1051807"/>
            <a:ext cx="0" cy="24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52E045-D57A-A6B5-48A6-546E54FDE4F9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9317476" y="1665938"/>
            <a:ext cx="1" cy="199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5AD198E-BBB8-208A-4C33-1824E9A5A8F7}"/>
              </a:ext>
            </a:extLst>
          </p:cNvPr>
          <p:cNvCxnSpPr>
            <a:stCxn id="7" idx="1"/>
            <a:endCxn id="9" idx="0"/>
          </p:cNvCxnSpPr>
          <p:nvPr/>
        </p:nvCxnSpPr>
        <p:spPr>
          <a:xfrm rot="10800000" flipV="1">
            <a:off x="8337414" y="2390661"/>
            <a:ext cx="343711" cy="995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D0699E4-8F0E-59FB-28AE-D22E6FF2F383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9953827" y="2390662"/>
            <a:ext cx="376946" cy="9859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9E66EF4-5101-B886-0F8A-C038D94F7B82}"/>
              </a:ext>
            </a:extLst>
          </p:cNvPr>
          <p:cNvCxnSpPr>
            <a:stCxn id="9" idx="4"/>
            <a:endCxn id="6" idx="2"/>
          </p:cNvCxnSpPr>
          <p:nvPr/>
        </p:nvCxnSpPr>
        <p:spPr>
          <a:xfrm rot="16200000" flipH="1">
            <a:off x="8231317" y="3861539"/>
            <a:ext cx="637778" cy="425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B1BAEAB-D77A-E0EC-E0EC-7544D8928D89}"/>
              </a:ext>
            </a:extLst>
          </p:cNvPr>
          <p:cNvCxnSpPr>
            <a:stCxn id="10" idx="4"/>
            <a:endCxn id="6" idx="6"/>
          </p:cNvCxnSpPr>
          <p:nvPr/>
        </p:nvCxnSpPr>
        <p:spPr>
          <a:xfrm rot="5400000">
            <a:off x="9754768" y="3863423"/>
            <a:ext cx="646986" cy="4126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EC55ED4-D3C0-09D2-8190-E0086682D511}"/>
              </a:ext>
            </a:extLst>
          </p:cNvPr>
          <p:cNvSpPr txBox="1"/>
          <p:nvPr/>
        </p:nvSpPr>
        <p:spPr>
          <a:xfrm>
            <a:off x="8213385" y="2121670"/>
            <a:ext cx="630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43D60-4027-3542-8C33-BCC796108281}"/>
              </a:ext>
            </a:extLst>
          </p:cNvPr>
          <p:cNvSpPr txBox="1"/>
          <p:nvPr/>
        </p:nvSpPr>
        <p:spPr>
          <a:xfrm>
            <a:off x="9893028" y="2141137"/>
            <a:ext cx="875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4681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4F43-4B66-A837-BE93-EC2E6E1B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4266-E685-3903-CA52-B5459BF0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19. Tossed coin Head or teil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F22B-EA0B-36D4-DB68-85C7F7129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589" y="964275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dirty="0"/>
              <a:t> </a:t>
            </a:r>
            <a:r>
              <a:rPr lang="en-IN" sz="2000" i="1" u="sng" dirty="0"/>
              <a:t>Algorithm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toss</a:t>
            </a:r>
          </a:p>
          <a:p>
            <a:pPr marL="0" indent="0">
              <a:buNone/>
            </a:pPr>
            <a:r>
              <a:rPr lang="en-IN" sz="1800" dirty="0"/>
              <a:t>Step3. If toss==H , go to step 4</a:t>
            </a:r>
          </a:p>
          <a:p>
            <a:pPr marL="0" indent="0">
              <a:buNone/>
            </a:pPr>
            <a:r>
              <a:rPr lang="en-IN" sz="1800" dirty="0"/>
              <a:t>               otherwise go to step 5</a:t>
            </a:r>
          </a:p>
          <a:p>
            <a:pPr marL="0" indent="0">
              <a:buNone/>
            </a:pPr>
            <a:r>
              <a:rPr lang="en-IN" sz="1800" dirty="0"/>
              <a:t>Step4. Display Head, go to step 6</a:t>
            </a:r>
          </a:p>
          <a:p>
            <a:pPr marL="0" indent="0">
              <a:buNone/>
            </a:pPr>
            <a:r>
              <a:rPr lang="en-IN" sz="1800" dirty="0"/>
              <a:t>Step5. Display Tail</a:t>
            </a:r>
          </a:p>
          <a:p>
            <a:pPr marL="0" indent="0">
              <a:buNone/>
            </a:pPr>
            <a:r>
              <a:rPr lang="en-IN" sz="1800" dirty="0"/>
              <a:t>Step6.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0F8D4-D07C-A15D-EEB1-98C604E10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964275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67FE02-3277-ABEF-7473-0B8C41C93034}"/>
              </a:ext>
            </a:extLst>
          </p:cNvPr>
          <p:cNvSpPr/>
          <p:nvPr/>
        </p:nvSpPr>
        <p:spPr>
          <a:xfrm>
            <a:off x="8954304" y="1499394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A7375B-ADE5-B463-4300-76920EFDF087}"/>
              </a:ext>
            </a:extLst>
          </p:cNvPr>
          <p:cNvSpPr/>
          <p:nvPr/>
        </p:nvSpPr>
        <p:spPr>
          <a:xfrm>
            <a:off x="8954304" y="532105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6A45C2A0-C5D4-9719-1FCB-A9138E73075D}"/>
              </a:ext>
            </a:extLst>
          </p:cNvPr>
          <p:cNvSpPr/>
          <p:nvPr/>
        </p:nvSpPr>
        <p:spPr>
          <a:xfrm>
            <a:off x="8472784" y="2352265"/>
            <a:ext cx="2071992" cy="3793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toss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19592147-B59E-BA78-BE4A-58728096C771}"/>
              </a:ext>
            </a:extLst>
          </p:cNvPr>
          <p:cNvSpPr/>
          <p:nvPr/>
        </p:nvSpPr>
        <p:spPr>
          <a:xfrm>
            <a:off x="9771428" y="4509741"/>
            <a:ext cx="2071992" cy="3793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Display tail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C10077AE-E4D5-60C0-E8F3-3D1C9C47DB31}"/>
              </a:ext>
            </a:extLst>
          </p:cNvPr>
          <p:cNvSpPr/>
          <p:nvPr/>
        </p:nvSpPr>
        <p:spPr>
          <a:xfrm>
            <a:off x="7209816" y="4509742"/>
            <a:ext cx="2071992" cy="37937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Display Head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6AE56A2-173B-5386-95C9-1A9F09BE14EF}"/>
              </a:ext>
            </a:extLst>
          </p:cNvPr>
          <p:cNvSpPr/>
          <p:nvPr/>
        </p:nvSpPr>
        <p:spPr>
          <a:xfrm>
            <a:off x="8718407" y="3114777"/>
            <a:ext cx="1580747" cy="963039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If </a:t>
            </a:r>
          </a:p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Toss==H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E38D1B-1C4B-A4B3-59D4-A31A78649FB7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9508780" y="1953892"/>
            <a:ext cx="1" cy="398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EF9BC5-44BD-90F0-9356-1EA37FCB4FBD}"/>
              </a:ext>
            </a:extLst>
          </p:cNvPr>
          <p:cNvCxnSpPr>
            <a:stCxn id="7" idx="4"/>
            <a:endCxn id="10" idx="0"/>
          </p:cNvCxnSpPr>
          <p:nvPr/>
        </p:nvCxnSpPr>
        <p:spPr>
          <a:xfrm>
            <a:off x="9508780" y="2731644"/>
            <a:ext cx="1" cy="383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C0021A0-8A5C-0A74-90A9-DD0AA21FEDD1}"/>
              </a:ext>
            </a:extLst>
          </p:cNvPr>
          <p:cNvCxnSpPr>
            <a:stCxn id="10" idx="1"/>
            <a:endCxn id="9" idx="0"/>
          </p:cNvCxnSpPr>
          <p:nvPr/>
        </p:nvCxnSpPr>
        <p:spPr>
          <a:xfrm rot="10800000" flipV="1">
            <a:off x="8245813" y="3596296"/>
            <a:ext cx="472595" cy="9134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5EBA865-03C0-89F4-FAC1-0BA861A09660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>
            <a:off x="10299154" y="3596297"/>
            <a:ext cx="508270" cy="9134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C67828C-CD39-4813-77D8-62CA046AA9C1}"/>
              </a:ext>
            </a:extLst>
          </p:cNvPr>
          <p:cNvCxnSpPr>
            <a:cxnSpLocks/>
            <a:stCxn id="9" idx="4"/>
          </p:cNvCxnSpPr>
          <p:nvPr/>
        </p:nvCxnSpPr>
        <p:spPr>
          <a:xfrm rot="16200000" flipH="1">
            <a:off x="8270471" y="4864462"/>
            <a:ext cx="659175" cy="7084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D989A8F-CDB7-C24F-7C74-BB1DA7F87972}"/>
              </a:ext>
            </a:extLst>
          </p:cNvPr>
          <p:cNvCxnSpPr>
            <a:cxnSpLocks/>
            <a:stCxn id="8" idx="4"/>
          </p:cNvCxnSpPr>
          <p:nvPr/>
        </p:nvCxnSpPr>
        <p:spPr>
          <a:xfrm rot="5400000">
            <a:off x="10105753" y="4846625"/>
            <a:ext cx="659176" cy="7441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0B38A4-E08F-C7F5-2682-B667F812E227}"/>
              </a:ext>
            </a:extLst>
          </p:cNvPr>
          <p:cNvSpPr txBox="1"/>
          <p:nvPr/>
        </p:nvSpPr>
        <p:spPr>
          <a:xfrm>
            <a:off x="8210151" y="3302592"/>
            <a:ext cx="595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570A84-B478-00AE-7816-F5A9BA14892C}"/>
              </a:ext>
            </a:extLst>
          </p:cNvPr>
          <p:cNvSpPr txBox="1"/>
          <p:nvPr/>
        </p:nvSpPr>
        <p:spPr>
          <a:xfrm>
            <a:off x="10267546" y="3305631"/>
            <a:ext cx="774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51421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0ACD-1C77-30B5-15BA-14B2BB41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E32B-04F7-7603-DAD1-A5139291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20. Check a no if it is whole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9A6A-F044-DF5C-B506-1E761BD4F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float a</a:t>
            </a:r>
          </a:p>
          <a:p>
            <a:pPr marL="0" indent="0">
              <a:buNone/>
            </a:pPr>
            <a:r>
              <a:rPr lang="en-IN" sz="1800" dirty="0"/>
              <a:t>Step3. Let int b</a:t>
            </a:r>
          </a:p>
          <a:p>
            <a:pPr marL="0" indent="0">
              <a:buNone/>
            </a:pPr>
            <a:r>
              <a:rPr lang="en-IN" sz="1800" dirty="0"/>
              <a:t>Step4. If a&gt;=0&amp; a=b go to step 5</a:t>
            </a:r>
          </a:p>
          <a:p>
            <a:pPr marL="0" indent="0">
              <a:buNone/>
            </a:pPr>
            <a:r>
              <a:rPr lang="en-IN" sz="1800" dirty="0"/>
              <a:t>               Otherwise go to step 6</a:t>
            </a:r>
          </a:p>
          <a:p>
            <a:pPr marL="0" indent="0">
              <a:buNone/>
            </a:pPr>
            <a:r>
              <a:rPr lang="en-IN" sz="1800" dirty="0"/>
              <a:t>Step5. Print whole no, go to step 7</a:t>
            </a:r>
          </a:p>
          <a:p>
            <a:pPr marL="0" indent="0">
              <a:buNone/>
            </a:pPr>
            <a:r>
              <a:rPr lang="en-IN" sz="1800" dirty="0"/>
              <a:t>Step6. Print not whole no</a:t>
            </a:r>
          </a:p>
          <a:p>
            <a:pPr marL="0" indent="0">
              <a:buNone/>
            </a:pPr>
            <a:r>
              <a:rPr lang="en-IN" sz="1800" dirty="0"/>
              <a:t>Step7.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87780-5F35-E7C1-333D-3B598E4AD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48937E-2236-F0AC-860F-22D803064614}"/>
              </a:ext>
            </a:extLst>
          </p:cNvPr>
          <p:cNvSpPr/>
          <p:nvPr/>
        </p:nvSpPr>
        <p:spPr>
          <a:xfrm>
            <a:off x="9265593" y="156342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8DB30B-A460-F264-8D5D-7E46E30DDA8B}"/>
              </a:ext>
            </a:extLst>
          </p:cNvPr>
          <p:cNvSpPr/>
          <p:nvPr/>
        </p:nvSpPr>
        <p:spPr>
          <a:xfrm>
            <a:off x="9265593" y="5868664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8E66FEF-E199-48F2-C195-5482F8476914}"/>
              </a:ext>
            </a:extLst>
          </p:cNvPr>
          <p:cNvSpPr/>
          <p:nvPr/>
        </p:nvSpPr>
        <p:spPr>
          <a:xfrm>
            <a:off x="8822985" y="2295572"/>
            <a:ext cx="1994170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float a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477C9819-D800-5CAA-A907-34A5B3B08E6C}"/>
              </a:ext>
            </a:extLst>
          </p:cNvPr>
          <p:cNvSpPr/>
          <p:nvPr/>
        </p:nvSpPr>
        <p:spPr>
          <a:xfrm>
            <a:off x="10051506" y="5114611"/>
            <a:ext cx="1994170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Not whole no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D8AA3354-5E33-8B4C-7657-EF593D5841DD}"/>
              </a:ext>
            </a:extLst>
          </p:cNvPr>
          <p:cNvSpPr/>
          <p:nvPr/>
        </p:nvSpPr>
        <p:spPr>
          <a:xfrm>
            <a:off x="7568117" y="5134522"/>
            <a:ext cx="1994170" cy="35992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Whole no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7D9F51B3-3FD8-EB44-D8F0-1C6EC78CE140}"/>
              </a:ext>
            </a:extLst>
          </p:cNvPr>
          <p:cNvSpPr/>
          <p:nvPr/>
        </p:nvSpPr>
        <p:spPr>
          <a:xfrm>
            <a:off x="9050369" y="3570619"/>
            <a:ext cx="1539401" cy="1186774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If a&gt;=0&amp;</a:t>
            </a:r>
          </a:p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a=b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6ABB3-7FD9-432C-707E-918420043663}"/>
              </a:ext>
            </a:extLst>
          </p:cNvPr>
          <p:cNvSpPr/>
          <p:nvPr/>
        </p:nvSpPr>
        <p:spPr>
          <a:xfrm>
            <a:off x="8822985" y="2918298"/>
            <a:ext cx="1994170" cy="3599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Let int b=a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8B3E5C-C3D2-68FF-69E8-F8522350FD17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9820070" y="2017925"/>
            <a:ext cx="0" cy="277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529D79-365D-34CE-12F2-228F150D53BF}"/>
              </a:ext>
            </a:extLst>
          </p:cNvPr>
          <p:cNvCxnSpPr>
            <a:stCxn id="7" idx="4"/>
            <a:endCxn id="11" idx="0"/>
          </p:cNvCxnSpPr>
          <p:nvPr/>
        </p:nvCxnSpPr>
        <p:spPr>
          <a:xfrm>
            <a:off x="9820070" y="2655495"/>
            <a:ext cx="0" cy="262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6D0EEA-8887-3737-91C5-998DD2768F47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9820070" y="3278221"/>
            <a:ext cx="0" cy="292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1319FF4-EFBF-67CA-CDF5-06F56F95A251}"/>
              </a:ext>
            </a:extLst>
          </p:cNvPr>
          <p:cNvCxnSpPr>
            <a:stCxn id="10" idx="1"/>
            <a:endCxn id="9" idx="0"/>
          </p:cNvCxnSpPr>
          <p:nvPr/>
        </p:nvCxnSpPr>
        <p:spPr>
          <a:xfrm rot="10800000" flipV="1">
            <a:off x="8565203" y="4164006"/>
            <a:ext cx="485167" cy="9705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A2A15A0-D396-DF55-A1BB-AD435B7615DD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10589770" y="4164006"/>
            <a:ext cx="458821" cy="9506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674C5F5-2CB9-0C5A-5075-581E8ED98923}"/>
              </a:ext>
            </a:extLst>
          </p:cNvPr>
          <p:cNvCxnSpPr>
            <a:stCxn id="9" idx="4"/>
            <a:endCxn id="6" idx="2"/>
          </p:cNvCxnSpPr>
          <p:nvPr/>
        </p:nvCxnSpPr>
        <p:spPr>
          <a:xfrm rot="16200000" flipH="1">
            <a:off x="8614663" y="5444983"/>
            <a:ext cx="601468" cy="700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0671676-92B0-B0DB-7AA4-7440AE93E5B4}"/>
              </a:ext>
            </a:extLst>
          </p:cNvPr>
          <p:cNvCxnSpPr>
            <a:stCxn id="8" idx="4"/>
          </p:cNvCxnSpPr>
          <p:nvPr/>
        </p:nvCxnSpPr>
        <p:spPr>
          <a:xfrm rot="5400000">
            <a:off x="10402038" y="5447043"/>
            <a:ext cx="619062" cy="6740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FF8879D-8108-0743-0055-AFA0D6850BBD}"/>
              </a:ext>
            </a:extLst>
          </p:cNvPr>
          <p:cNvSpPr txBox="1"/>
          <p:nvPr/>
        </p:nvSpPr>
        <p:spPr>
          <a:xfrm>
            <a:off x="8557905" y="3863952"/>
            <a:ext cx="984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C82D4-7EC8-1AD2-8A69-B6B33D61770E}"/>
              </a:ext>
            </a:extLst>
          </p:cNvPr>
          <p:cNvSpPr txBox="1"/>
          <p:nvPr/>
        </p:nvSpPr>
        <p:spPr>
          <a:xfrm>
            <a:off x="10575785" y="3871608"/>
            <a:ext cx="71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34874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9A27-2A81-E392-793A-7D70F2E0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D58F-1759-0D76-21F0-DBFD5F76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21. Check leap year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CE2E9-BA0A-4315-E4B9-1B168EEB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90" y="964275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year</a:t>
            </a:r>
          </a:p>
          <a:p>
            <a:pPr marL="0" indent="0">
              <a:buNone/>
            </a:pPr>
            <a:r>
              <a:rPr lang="en-IN" sz="1800" dirty="0"/>
              <a:t>Step3. If y%400=0 go to step 5</a:t>
            </a:r>
          </a:p>
          <a:p>
            <a:pPr marL="0" indent="0">
              <a:buNone/>
            </a:pPr>
            <a:r>
              <a:rPr lang="en-IN" sz="1800" dirty="0"/>
              <a:t>               otherwise go to step 4</a:t>
            </a:r>
          </a:p>
          <a:p>
            <a:pPr marL="0" indent="0">
              <a:buNone/>
            </a:pPr>
            <a:r>
              <a:rPr lang="en-IN" sz="1800" dirty="0"/>
              <a:t>Step4. If y%100!=0 &amp; y%4=0 go to step 5</a:t>
            </a:r>
          </a:p>
          <a:p>
            <a:pPr marL="0" indent="0">
              <a:buNone/>
            </a:pPr>
            <a:r>
              <a:rPr lang="en-IN" sz="1800" dirty="0"/>
              <a:t>               otherwise go to step 6</a:t>
            </a:r>
          </a:p>
          <a:p>
            <a:pPr marL="0" indent="0">
              <a:buNone/>
            </a:pPr>
            <a:r>
              <a:rPr lang="en-IN" sz="1800" dirty="0"/>
              <a:t>Step5. Print leap year go to step 7</a:t>
            </a:r>
          </a:p>
          <a:p>
            <a:pPr marL="0" indent="0">
              <a:buNone/>
            </a:pPr>
            <a:r>
              <a:rPr lang="en-IN" sz="1800" dirty="0"/>
              <a:t>Step6. Print not leap year</a:t>
            </a:r>
          </a:p>
          <a:p>
            <a:pPr marL="0" indent="0">
              <a:buNone/>
            </a:pPr>
            <a:r>
              <a:rPr lang="en-IN" sz="1800" dirty="0"/>
              <a:t>Step7.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CCE9C-9BFD-4053-F52A-7A38D5F31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5006BF-7D4A-B2A9-4F86-730D4691761D}"/>
              </a:ext>
            </a:extLst>
          </p:cNvPr>
          <p:cNvSpPr/>
          <p:nvPr/>
        </p:nvSpPr>
        <p:spPr>
          <a:xfrm>
            <a:off x="8763000" y="117838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EB713B-ADAC-E78C-DD69-5D465C43E470}"/>
              </a:ext>
            </a:extLst>
          </p:cNvPr>
          <p:cNvSpPr/>
          <p:nvPr/>
        </p:nvSpPr>
        <p:spPr>
          <a:xfrm>
            <a:off x="8762999" y="5658616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093A72A0-A154-DD6E-9F8E-E7E0E6EC37AE}"/>
              </a:ext>
            </a:extLst>
          </p:cNvPr>
          <p:cNvSpPr/>
          <p:nvPr/>
        </p:nvSpPr>
        <p:spPr>
          <a:xfrm>
            <a:off x="8286345" y="1941288"/>
            <a:ext cx="2062263" cy="330740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year(y)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7F036DA-EE8E-BB67-45E8-2BA7C173CADB}"/>
              </a:ext>
            </a:extLst>
          </p:cNvPr>
          <p:cNvSpPr/>
          <p:nvPr/>
        </p:nvSpPr>
        <p:spPr>
          <a:xfrm>
            <a:off x="7004930" y="3957517"/>
            <a:ext cx="2062263" cy="330740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 leap year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95E628F-8A75-BA8C-E372-A56F07557BC1}"/>
              </a:ext>
            </a:extLst>
          </p:cNvPr>
          <p:cNvSpPr/>
          <p:nvPr/>
        </p:nvSpPr>
        <p:spPr>
          <a:xfrm>
            <a:off x="9656121" y="5170176"/>
            <a:ext cx="2230470" cy="330740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 not leap year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8F2FCF26-5870-B214-1BCC-0165636441A7}"/>
              </a:ext>
            </a:extLst>
          </p:cNvPr>
          <p:cNvSpPr/>
          <p:nvPr/>
        </p:nvSpPr>
        <p:spPr>
          <a:xfrm>
            <a:off x="8446040" y="2580431"/>
            <a:ext cx="1742872" cy="804841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y%400==0 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438804F3-4AD4-E657-7A92-2F15D7D7166C}"/>
              </a:ext>
            </a:extLst>
          </p:cNvPr>
          <p:cNvSpPr/>
          <p:nvPr/>
        </p:nvSpPr>
        <p:spPr>
          <a:xfrm>
            <a:off x="9899920" y="3390576"/>
            <a:ext cx="1742872" cy="1434293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y%100!==o&amp;</a:t>
            </a:r>
          </a:p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y%4==0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5BB8C6-56D4-0E13-07C5-D53BE3494260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9317477" y="1632885"/>
            <a:ext cx="0" cy="30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DFEA02-E183-700C-2238-C51A85691B36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flipH="1">
            <a:off x="9317476" y="2272028"/>
            <a:ext cx="1" cy="308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BA13205-207A-ED2A-FAC3-9E436FE8D9B2}"/>
              </a:ext>
            </a:extLst>
          </p:cNvPr>
          <p:cNvCxnSpPr>
            <a:stCxn id="10" idx="1"/>
            <a:endCxn id="8" idx="0"/>
          </p:cNvCxnSpPr>
          <p:nvPr/>
        </p:nvCxnSpPr>
        <p:spPr>
          <a:xfrm rot="10800000" flipV="1">
            <a:off x="8036062" y="2982851"/>
            <a:ext cx="409978" cy="9746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54CB295-A824-363E-4D02-2FFF467ECCB5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10188912" y="2982852"/>
            <a:ext cx="582444" cy="4077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0E323E-A339-B528-C004-A7DEDCC87270}"/>
              </a:ext>
            </a:extLst>
          </p:cNvPr>
          <p:cNvCxnSpPr>
            <a:stCxn id="11" idx="1"/>
            <a:endCxn id="8" idx="2"/>
          </p:cNvCxnSpPr>
          <p:nvPr/>
        </p:nvCxnSpPr>
        <p:spPr>
          <a:xfrm flipH="1">
            <a:off x="9025851" y="4107723"/>
            <a:ext cx="874069" cy="15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577D5F-0121-9125-DC51-6762A15A3637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10771356" y="4824869"/>
            <a:ext cx="0" cy="345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B6F746E-BE30-52E8-FFF0-D284960DF7A0}"/>
              </a:ext>
            </a:extLst>
          </p:cNvPr>
          <p:cNvCxnSpPr>
            <a:stCxn id="9" idx="4"/>
            <a:endCxn id="6" idx="6"/>
          </p:cNvCxnSpPr>
          <p:nvPr/>
        </p:nvCxnSpPr>
        <p:spPr>
          <a:xfrm rot="5400000">
            <a:off x="10129181" y="5243689"/>
            <a:ext cx="384949" cy="8994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077472F-7295-D244-36CD-0D157212214E}"/>
              </a:ext>
            </a:extLst>
          </p:cNvPr>
          <p:cNvCxnSpPr>
            <a:stCxn id="8" idx="4"/>
            <a:endCxn id="6" idx="2"/>
          </p:cNvCxnSpPr>
          <p:nvPr/>
        </p:nvCxnSpPr>
        <p:spPr>
          <a:xfrm rot="16200000" flipH="1">
            <a:off x="7600726" y="4723592"/>
            <a:ext cx="1597608" cy="7269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CFC589-D1EE-8BC4-DD82-9B651E742108}"/>
              </a:ext>
            </a:extLst>
          </p:cNvPr>
          <p:cNvSpPr txBox="1"/>
          <p:nvPr/>
        </p:nvSpPr>
        <p:spPr>
          <a:xfrm>
            <a:off x="8011538" y="2723537"/>
            <a:ext cx="716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0494D9-1EE7-2855-D0AD-5FC1169B2E7E}"/>
              </a:ext>
            </a:extLst>
          </p:cNvPr>
          <p:cNvSpPr txBox="1"/>
          <p:nvPr/>
        </p:nvSpPr>
        <p:spPr>
          <a:xfrm>
            <a:off x="9224658" y="3801667"/>
            <a:ext cx="716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2A160D-DE1F-EB40-5A50-F952E7CDDE1A}"/>
              </a:ext>
            </a:extLst>
          </p:cNvPr>
          <p:cNvSpPr txBox="1"/>
          <p:nvPr/>
        </p:nvSpPr>
        <p:spPr>
          <a:xfrm>
            <a:off x="10156287" y="2717375"/>
            <a:ext cx="871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2EFE94-03AA-CDA8-8B8F-F9E33A8FFA2C}"/>
              </a:ext>
            </a:extLst>
          </p:cNvPr>
          <p:cNvSpPr txBox="1"/>
          <p:nvPr/>
        </p:nvSpPr>
        <p:spPr>
          <a:xfrm>
            <a:off x="10748760" y="4806597"/>
            <a:ext cx="871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74346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96BC-EF2A-F94F-32D2-8F4322EC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A9BC-5939-F4B7-D806-13A24D0E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22. Greatest between three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CE9E-4E32-CF23-FAC1-7E24A5ED6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</a:t>
            </a:r>
            <a:r>
              <a:rPr lang="en-IN" sz="1800" dirty="0" err="1"/>
              <a:t>a,b,c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Step3. If a&gt;b go to step 4</a:t>
            </a:r>
          </a:p>
          <a:p>
            <a:pPr marL="0" indent="0">
              <a:buNone/>
            </a:pPr>
            <a:r>
              <a:rPr lang="en-IN" sz="1800" dirty="0"/>
              <a:t>               otherwise go to step 5</a:t>
            </a:r>
          </a:p>
          <a:p>
            <a:pPr marL="0" indent="0">
              <a:buNone/>
            </a:pPr>
            <a:r>
              <a:rPr lang="en-IN" sz="1800" dirty="0"/>
              <a:t>Step4. If a&gt;c go to step 6</a:t>
            </a:r>
          </a:p>
          <a:p>
            <a:pPr marL="0" indent="0">
              <a:buNone/>
            </a:pPr>
            <a:r>
              <a:rPr lang="en-IN" sz="1800" dirty="0"/>
              <a:t>               otherwise go to 8</a:t>
            </a:r>
          </a:p>
          <a:p>
            <a:pPr marL="0" indent="0">
              <a:buNone/>
            </a:pPr>
            <a:r>
              <a:rPr lang="en-IN" sz="1800" dirty="0"/>
              <a:t>Step5. If b&gt;c go to step 7</a:t>
            </a:r>
          </a:p>
          <a:p>
            <a:pPr marL="0" indent="0">
              <a:buNone/>
            </a:pPr>
            <a:r>
              <a:rPr lang="en-IN" sz="1800" dirty="0"/>
              <a:t>               otherwise go to step 8</a:t>
            </a:r>
          </a:p>
          <a:p>
            <a:pPr marL="0" indent="0">
              <a:buNone/>
            </a:pPr>
            <a:r>
              <a:rPr lang="en-IN" sz="1800" dirty="0"/>
              <a:t>Step6. Print a , go to step 9</a:t>
            </a:r>
          </a:p>
          <a:p>
            <a:pPr marL="0" indent="0">
              <a:buNone/>
            </a:pPr>
            <a:r>
              <a:rPr lang="en-IN" sz="1800" dirty="0"/>
              <a:t>Step7. Print b  , go to step 9</a:t>
            </a:r>
          </a:p>
          <a:p>
            <a:pPr marL="0" indent="0">
              <a:buNone/>
            </a:pPr>
            <a:r>
              <a:rPr lang="en-IN" sz="1800" dirty="0"/>
              <a:t>Step8. Print c</a:t>
            </a:r>
          </a:p>
          <a:p>
            <a:pPr marL="0" indent="0">
              <a:buNone/>
            </a:pPr>
            <a:r>
              <a:rPr lang="en-IN" sz="1800" dirty="0"/>
              <a:t>Step9.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DFD7-B20F-97BD-55E8-1F21EBC94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13F581-1609-2F7E-67C7-1B1B44BE096F}"/>
              </a:ext>
            </a:extLst>
          </p:cNvPr>
          <p:cNvSpPr/>
          <p:nvPr/>
        </p:nvSpPr>
        <p:spPr>
          <a:xfrm>
            <a:off x="8915398" y="73702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FFD9F3-0460-44B7-883C-8FAA18152611}"/>
              </a:ext>
            </a:extLst>
          </p:cNvPr>
          <p:cNvSpPr/>
          <p:nvPr/>
        </p:nvSpPr>
        <p:spPr>
          <a:xfrm>
            <a:off x="8915398" y="6138221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A77041FF-9912-F798-9248-787D5B700BBA}"/>
              </a:ext>
            </a:extLst>
          </p:cNvPr>
          <p:cNvSpPr/>
          <p:nvPr/>
        </p:nvSpPr>
        <p:spPr>
          <a:xfrm>
            <a:off x="8833522" y="2202617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a&gt;b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25D27AE-5A17-4B06-7BF5-73DF98210313}"/>
              </a:ext>
            </a:extLst>
          </p:cNvPr>
          <p:cNvSpPr/>
          <p:nvPr/>
        </p:nvSpPr>
        <p:spPr>
          <a:xfrm>
            <a:off x="7730081" y="3253204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a&gt;c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C595B3F-9A55-877D-9D38-C09B54AE691F}"/>
              </a:ext>
            </a:extLst>
          </p:cNvPr>
          <p:cNvSpPr/>
          <p:nvPr/>
        </p:nvSpPr>
        <p:spPr>
          <a:xfrm>
            <a:off x="9915886" y="3253204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b&gt;c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3DE2933D-CDA8-7B3F-010D-E51BE0400674}"/>
              </a:ext>
            </a:extLst>
          </p:cNvPr>
          <p:cNvSpPr/>
          <p:nvPr/>
        </p:nvSpPr>
        <p:spPr>
          <a:xfrm>
            <a:off x="8521020" y="1499275"/>
            <a:ext cx="1897708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a,b,c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65C8A16-8ECF-B433-F5EC-3B48D504186D}"/>
              </a:ext>
            </a:extLst>
          </p:cNvPr>
          <p:cNvSpPr/>
          <p:nvPr/>
        </p:nvSpPr>
        <p:spPr>
          <a:xfrm>
            <a:off x="8677270" y="4637505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c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C876218-C2F7-4CE8-204E-BD19DA1410AC}"/>
              </a:ext>
            </a:extLst>
          </p:cNvPr>
          <p:cNvSpPr/>
          <p:nvPr/>
        </p:nvSpPr>
        <p:spPr>
          <a:xfrm>
            <a:off x="7573829" y="5431449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a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D29D600F-4129-3EC6-3A7F-264B1EA6E548}"/>
              </a:ext>
            </a:extLst>
          </p:cNvPr>
          <p:cNvSpPr/>
          <p:nvPr/>
        </p:nvSpPr>
        <p:spPr>
          <a:xfrm>
            <a:off x="9759634" y="5430093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C9F972-F496-C9D9-4C7A-10F27A295DBC}"/>
              </a:ext>
            </a:extLst>
          </p:cNvPr>
          <p:cNvCxnSpPr>
            <a:stCxn id="5" idx="4"/>
            <a:endCxn id="10" idx="0"/>
          </p:cNvCxnSpPr>
          <p:nvPr/>
        </p:nvCxnSpPr>
        <p:spPr>
          <a:xfrm flipH="1">
            <a:off x="9469874" y="1191525"/>
            <a:ext cx="1" cy="307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17188B-2DF9-AF02-DB3B-9010E40A898F}"/>
              </a:ext>
            </a:extLst>
          </p:cNvPr>
          <p:cNvCxnSpPr>
            <a:stCxn id="10" idx="4"/>
            <a:endCxn id="7" idx="0"/>
          </p:cNvCxnSpPr>
          <p:nvPr/>
        </p:nvCxnSpPr>
        <p:spPr>
          <a:xfrm>
            <a:off x="9469874" y="1868903"/>
            <a:ext cx="0" cy="333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953938A-0428-2A37-8FC9-8556FEC2319F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8366434" y="2727910"/>
            <a:ext cx="467089" cy="5252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D95A5F9-9907-C1E7-7D0B-A9C5B19E9C3F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10106225" y="2727911"/>
            <a:ext cx="446013" cy="5252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C88FC7-5D56-93FD-DBCC-78504F4E0519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flipH="1">
            <a:off x="8366432" y="4303791"/>
            <a:ext cx="1" cy="1127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912BA4A-8AF6-D564-0E9F-B4690C0399E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002784" y="3778498"/>
            <a:ext cx="332441" cy="8590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02D4BD5-744E-1610-FE8A-710061C0902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9645988" y="3778497"/>
            <a:ext cx="269899" cy="846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4C2834-8E6B-2CC5-A2F6-ED688B89FEA8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flipH="1">
            <a:off x="10552237" y="4303791"/>
            <a:ext cx="1" cy="1126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45E7E2-FC06-589D-CE34-7DE563563D97}"/>
              </a:ext>
            </a:extLst>
          </p:cNvPr>
          <p:cNvCxnSpPr>
            <a:stCxn id="11" idx="4"/>
            <a:endCxn id="6" idx="0"/>
          </p:cNvCxnSpPr>
          <p:nvPr/>
        </p:nvCxnSpPr>
        <p:spPr>
          <a:xfrm>
            <a:off x="9469873" y="5007133"/>
            <a:ext cx="2" cy="1131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C7FB86B-882E-CA15-7E4E-8A67E32C7A6A}"/>
              </a:ext>
            </a:extLst>
          </p:cNvPr>
          <p:cNvCxnSpPr>
            <a:stCxn id="12" idx="4"/>
            <a:endCxn id="6" idx="2"/>
          </p:cNvCxnSpPr>
          <p:nvPr/>
        </p:nvCxnSpPr>
        <p:spPr>
          <a:xfrm rot="16200000" flipH="1">
            <a:off x="8358719" y="5808790"/>
            <a:ext cx="564393" cy="5489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A5B39CE-7CFB-CE4C-BBBD-71F58FD7FD26}"/>
              </a:ext>
            </a:extLst>
          </p:cNvPr>
          <p:cNvCxnSpPr>
            <a:stCxn id="13" idx="4"/>
            <a:endCxn id="6" idx="6"/>
          </p:cNvCxnSpPr>
          <p:nvPr/>
        </p:nvCxnSpPr>
        <p:spPr>
          <a:xfrm rot="5400000">
            <a:off x="10005421" y="5818653"/>
            <a:ext cx="565749" cy="5278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7CF8F2D-A680-935E-1E8E-A4F3DB2A7361}"/>
              </a:ext>
            </a:extLst>
          </p:cNvPr>
          <p:cNvSpPr txBox="1"/>
          <p:nvPr/>
        </p:nvSpPr>
        <p:spPr>
          <a:xfrm>
            <a:off x="8369391" y="4290736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9F1A7D-830B-A377-550D-AC8AEFAB0F5B}"/>
              </a:ext>
            </a:extLst>
          </p:cNvPr>
          <p:cNvSpPr txBox="1"/>
          <p:nvPr/>
        </p:nvSpPr>
        <p:spPr>
          <a:xfrm>
            <a:off x="8358489" y="2438659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1EA9EB-9BFC-945F-DF18-25CCB71E1E09}"/>
              </a:ext>
            </a:extLst>
          </p:cNvPr>
          <p:cNvSpPr txBox="1"/>
          <p:nvPr/>
        </p:nvSpPr>
        <p:spPr>
          <a:xfrm>
            <a:off x="10560665" y="4323135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83B7A1-129E-B27B-F7FF-F7B445592F12}"/>
              </a:ext>
            </a:extLst>
          </p:cNvPr>
          <p:cNvSpPr txBox="1"/>
          <p:nvPr/>
        </p:nvSpPr>
        <p:spPr>
          <a:xfrm>
            <a:off x="9575337" y="3486798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6AEA59-A1A6-E304-1283-84820DB4A0CF}"/>
              </a:ext>
            </a:extLst>
          </p:cNvPr>
          <p:cNvSpPr txBox="1"/>
          <p:nvPr/>
        </p:nvSpPr>
        <p:spPr>
          <a:xfrm>
            <a:off x="8944012" y="3480453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3BBCA7-93E8-88F5-5644-D566312E5DBD}"/>
              </a:ext>
            </a:extLst>
          </p:cNvPr>
          <p:cNvSpPr txBox="1"/>
          <p:nvPr/>
        </p:nvSpPr>
        <p:spPr>
          <a:xfrm>
            <a:off x="10106225" y="2434718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33373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58C1-A86E-96EC-7787-37F9F358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0349-E0B1-E503-5A42-A3F00DCF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23. Check a letter vowel or consonant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0C5A-89EF-E63C-A36C-7A0E0C01B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 fontScale="70000" lnSpcReduction="20000"/>
          </a:bodyPr>
          <a:lstStyle/>
          <a:p>
            <a:r>
              <a:rPr lang="en-IN" sz="2600" i="1" u="sng" dirty="0"/>
              <a:t>Algorithm</a:t>
            </a:r>
          </a:p>
          <a:p>
            <a:pPr marL="0" indent="0">
              <a:buNone/>
            </a:pPr>
            <a:r>
              <a:rPr lang="en-IN" sz="2300" dirty="0"/>
              <a:t>Step1. Start</a:t>
            </a:r>
          </a:p>
          <a:p>
            <a:pPr marL="0" indent="0">
              <a:buNone/>
            </a:pPr>
            <a:r>
              <a:rPr lang="en-IN" sz="2300" dirty="0"/>
              <a:t>Step2. Input letter</a:t>
            </a:r>
          </a:p>
          <a:p>
            <a:pPr marL="0" indent="0">
              <a:buNone/>
            </a:pPr>
            <a:r>
              <a:rPr lang="en-IN" sz="2300" dirty="0"/>
              <a:t>Step3. If l=</a:t>
            </a:r>
            <a:r>
              <a:rPr lang="en-IN" sz="2300" dirty="0" err="1"/>
              <a:t>a,e,i,o,u</a:t>
            </a:r>
            <a:r>
              <a:rPr lang="en-IN" sz="2300" dirty="0"/>
              <a:t> go to step 4</a:t>
            </a:r>
          </a:p>
          <a:p>
            <a:pPr marL="0" indent="0">
              <a:buNone/>
            </a:pPr>
            <a:r>
              <a:rPr lang="en-IN" sz="2300" dirty="0"/>
              <a:t>               otherwise go to step 5</a:t>
            </a:r>
          </a:p>
          <a:p>
            <a:pPr marL="0" indent="0">
              <a:buNone/>
            </a:pPr>
            <a:r>
              <a:rPr lang="en-IN" sz="2300" dirty="0"/>
              <a:t>Step4. Print vowel, go to step 6</a:t>
            </a:r>
          </a:p>
          <a:p>
            <a:pPr marL="0" indent="0">
              <a:buNone/>
            </a:pPr>
            <a:r>
              <a:rPr lang="en-IN" sz="2300" dirty="0"/>
              <a:t>Step5. Print consonant</a:t>
            </a:r>
          </a:p>
          <a:p>
            <a:pPr marL="0" indent="0">
              <a:buNone/>
            </a:pPr>
            <a:r>
              <a:rPr lang="en-IN" sz="2300" dirty="0"/>
              <a:t>Step6. Stop</a:t>
            </a:r>
          </a:p>
          <a:p>
            <a:pPr marL="0" indent="0">
              <a:buNone/>
            </a:pP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IN" sz="2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24. Print size of </a:t>
            </a:r>
            <a:r>
              <a:rPr lang="en-IN" sz="2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int,float,double,char</a:t>
            </a:r>
            <a:endParaRPr lang="en-IN" sz="2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IN" sz="2900" i="1" u="sng" dirty="0">
                <a:solidFill>
                  <a:sysClr val="windowText" lastClr="000000"/>
                </a:solidFill>
              </a:rPr>
              <a:t>Algorithm</a:t>
            </a:r>
          </a:p>
          <a:p>
            <a:pPr marL="0" indent="0">
              <a:buNone/>
            </a:pPr>
            <a:r>
              <a:rPr lang="en-IN" sz="2100" dirty="0">
                <a:solidFill>
                  <a:sysClr val="windowText" lastClr="000000"/>
                </a:solidFill>
              </a:rPr>
              <a:t>Step1. Start</a:t>
            </a:r>
          </a:p>
          <a:p>
            <a:pPr marL="0" indent="0">
              <a:buNone/>
            </a:pPr>
            <a:r>
              <a:rPr lang="en-IN" sz="2100" dirty="0">
                <a:solidFill>
                  <a:sysClr val="windowText" lastClr="000000"/>
                </a:solidFill>
              </a:rPr>
              <a:t>Step2. print size of int, float, double, char</a:t>
            </a:r>
          </a:p>
          <a:p>
            <a:pPr marL="0" indent="0">
              <a:buNone/>
            </a:pPr>
            <a:r>
              <a:rPr lang="en-IN" sz="2100" dirty="0">
                <a:solidFill>
                  <a:sysClr val="windowText" lastClr="000000"/>
                </a:solidFill>
              </a:rPr>
              <a:t>Stop3. Stop</a:t>
            </a:r>
          </a:p>
          <a:p>
            <a:pPr marL="0" indent="0">
              <a:buNone/>
            </a:pPr>
            <a:endParaRPr lang="en-IN" sz="1600" dirty="0">
              <a:solidFill>
                <a:sysClr val="windowText" lastClr="000000"/>
              </a:solidFill>
            </a:endParaRP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000" i="1" u="sng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E1C04-90F1-A2F6-923D-8DE1F4410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4091" y="822656"/>
            <a:ext cx="5181600" cy="5212687"/>
          </a:xfrm>
        </p:spPr>
        <p:txBody>
          <a:bodyPr>
            <a:normAutofit fontScale="70000" lnSpcReduction="20000"/>
          </a:bodyPr>
          <a:lstStyle/>
          <a:p>
            <a:r>
              <a:rPr lang="en-IN" sz="24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D5C153-7B87-74A1-DFCD-95C4F1621BB6}"/>
              </a:ext>
            </a:extLst>
          </p:cNvPr>
          <p:cNvSpPr/>
          <p:nvPr/>
        </p:nvSpPr>
        <p:spPr>
          <a:xfrm>
            <a:off x="8763000" y="664700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E43308-7FB6-D057-C817-0FA42CCCE88E}"/>
              </a:ext>
            </a:extLst>
          </p:cNvPr>
          <p:cNvSpPr/>
          <p:nvPr/>
        </p:nvSpPr>
        <p:spPr>
          <a:xfrm>
            <a:off x="8754891" y="3512251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7707E5B-49BE-A652-0055-02DF5ECD3251}"/>
              </a:ext>
            </a:extLst>
          </p:cNvPr>
          <p:cNvSpPr/>
          <p:nvPr/>
        </p:nvSpPr>
        <p:spPr>
          <a:xfrm>
            <a:off x="8466307" y="1302406"/>
            <a:ext cx="1702340" cy="32101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letter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650D89C-A319-89EB-7EB2-1AA549352C3B}"/>
              </a:ext>
            </a:extLst>
          </p:cNvPr>
          <p:cNvSpPr/>
          <p:nvPr/>
        </p:nvSpPr>
        <p:spPr>
          <a:xfrm>
            <a:off x="7082141" y="2936165"/>
            <a:ext cx="1986064" cy="32101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vowel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641AF05-56B6-C6F3-5DEC-C0473EDFAF88}"/>
              </a:ext>
            </a:extLst>
          </p:cNvPr>
          <p:cNvSpPr/>
          <p:nvPr/>
        </p:nvSpPr>
        <p:spPr>
          <a:xfrm>
            <a:off x="8324445" y="1806627"/>
            <a:ext cx="1986064" cy="84630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If l= </a:t>
            </a:r>
            <a:r>
              <a:rPr lang="en-IN" sz="1600" dirty="0" err="1">
                <a:solidFill>
                  <a:schemeClr val="bg2">
                    <a:lumMod val="10000"/>
                  </a:schemeClr>
                </a:solidFill>
              </a:rPr>
              <a:t>a,e,i,o,u</a:t>
            </a:r>
            <a:endParaRPr lang="en-IN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0651ABA-2DA8-410E-2600-3B380AB53984}"/>
              </a:ext>
            </a:extLst>
          </p:cNvPr>
          <p:cNvSpPr/>
          <p:nvPr/>
        </p:nvSpPr>
        <p:spPr>
          <a:xfrm>
            <a:off x="9507978" y="2936165"/>
            <a:ext cx="1986063" cy="321013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Print consonant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4BC954-7A40-5081-01C1-D70868CC76A5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9317477" y="1119198"/>
            <a:ext cx="0" cy="183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C20493-EF4D-1292-1ACC-32B8133DCE22}"/>
              </a:ext>
            </a:extLst>
          </p:cNvPr>
          <p:cNvCxnSpPr>
            <a:stCxn id="7" idx="4"/>
            <a:endCxn id="9" idx="0"/>
          </p:cNvCxnSpPr>
          <p:nvPr/>
        </p:nvCxnSpPr>
        <p:spPr>
          <a:xfrm>
            <a:off x="9317477" y="1623419"/>
            <a:ext cx="0" cy="183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3AB163C-0A91-6A94-3A34-98A7CC12CCE8}"/>
              </a:ext>
            </a:extLst>
          </p:cNvPr>
          <p:cNvCxnSpPr>
            <a:stCxn id="9" idx="1"/>
            <a:endCxn id="8" idx="0"/>
          </p:cNvCxnSpPr>
          <p:nvPr/>
        </p:nvCxnSpPr>
        <p:spPr>
          <a:xfrm rot="10800000" flipV="1">
            <a:off x="8075173" y="2229781"/>
            <a:ext cx="249272" cy="706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7645A62-1C1C-DEDD-32D9-37118AA5725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0310509" y="2229781"/>
            <a:ext cx="230627" cy="706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0A91ACD-BD20-BB3C-C990-6BEF6568328A}"/>
              </a:ext>
            </a:extLst>
          </p:cNvPr>
          <p:cNvCxnSpPr>
            <a:stCxn id="8" idx="4"/>
            <a:endCxn id="6" idx="2"/>
          </p:cNvCxnSpPr>
          <p:nvPr/>
        </p:nvCxnSpPr>
        <p:spPr>
          <a:xfrm rot="16200000" flipH="1">
            <a:off x="8173871" y="3158480"/>
            <a:ext cx="482322" cy="6797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13B8E8E-9595-D464-5C87-79E0ADD93C6F}"/>
              </a:ext>
            </a:extLst>
          </p:cNvPr>
          <p:cNvCxnSpPr>
            <a:cxnSpLocks/>
            <a:stCxn id="10" idx="4"/>
            <a:endCxn id="6" idx="6"/>
          </p:cNvCxnSpPr>
          <p:nvPr/>
        </p:nvCxnSpPr>
        <p:spPr>
          <a:xfrm rot="5400000">
            <a:off x="9941267" y="3179757"/>
            <a:ext cx="482322" cy="637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FC91115-20E1-128B-0E0C-B24963FA071B}"/>
              </a:ext>
            </a:extLst>
          </p:cNvPr>
          <p:cNvSpPr txBox="1"/>
          <p:nvPr/>
        </p:nvSpPr>
        <p:spPr>
          <a:xfrm>
            <a:off x="7926784" y="1942920"/>
            <a:ext cx="651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B9531A-4F03-6F2F-636B-8B668FD3CD60}"/>
              </a:ext>
            </a:extLst>
          </p:cNvPr>
          <p:cNvSpPr txBox="1"/>
          <p:nvPr/>
        </p:nvSpPr>
        <p:spPr>
          <a:xfrm>
            <a:off x="10210802" y="1942920"/>
            <a:ext cx="580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13E8DF-0FEB-C1FB-DEB0-BCD51F00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09766"/>
            <a:ext cx="1633870" cy="536494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43E1F52-E445-8376-ADC1-89C29D6BECC3}"/>
              </a:ext>
            </a:extLst>
          </p:cNvPr>
          <p:cNvSpPr/>
          <p:nvPr/>
        </p:nvSpPr>
        <p:spPr>
          <a:xfrm>
            <a:off x="8763000" y="431929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DA9544-0C94-B49A-1453-4D4356AA3C39}"/>
              </a:ext>
            </a:extLst>
          </p:cNvPr>
          <p:cNvSpPr/>
          <p:nvPr/>
        </p:nvSpPr>
        <p:spPr>
          <a:xfrm>
            <a:off x="8754891" y="5974792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8B096CE-EAA0-3455-1E7A-39CC641518B5}"/>
              </a:ext>
            </a:extLst>
          </p:cNvPr>
          <p:cNvSpPr/>
          <p:nvPr/>
        </p:nvSpPr>
        <p:spPr>
          <a:xfrm>
            <a:off x="8004850" y="5114314"/>
            <a:ext cx="2625253" cy="524776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Print size of int, float, double, char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0697A3-A6C7-AB00-4DEE-9C586DC703F9}"/>
              </a:ext>
            </a:extLst>
          </p:cNvPr>
          <p:cNvCxnSpPr>
            <a:stCxn id="15" idx="4"/>
            <a:endCxn id="19" idx="0"/>
          </p:cNvCxnSpPr>
          <p:nvPr/>
        </p:nvCxnSpPr>
        <p:spPr>
          <a:xfrm>
            <a:off x="9317477" y="4773797"/>
            <a:ext cx="0" cy="340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67FFC8-677E-8944-74E7-D7A67409B8D3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9309368" y="5639090"/>
            <a:ext cx="8109" cy="335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62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C903-B5F0-9864-F87E-4732762C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FCC5-3E02-625C-E8C9-213B624D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25. Greatest between three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F845E-B020-5D72-90A7-BBF1694DE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</a:t>
            </a:r>
            <a:r>
              <a:rPr lang="en-IN" sz="1800" dirty="0" err="1"/>
              <a:t>a,b,c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Step3. If a&gt;b go to step 4</a:t>
            </a:r>
          </a:p>
          <a:p>
            <a:pPr marL="0" indent="0">
              <a:buNone/>
            </a:pPr>
            <a:r>
              <a:rPr lang="en-IN" sz="1800" dirty="0"/>
              <a:t>               otherwise go to step 5</a:t>
            </a:r>
          </a:p>
          <a:p>
            <a:pPr marL="0" indent="0">
              <a:buNone/>
            </a:pPr>
            <a:r>
              <a:rPr lang="en-IN" sz="1800" dirty="0"/>
              <a:t>Step4. If a&gt;c go to step 6</a:t>
            </a:r>
          </a:p>
          <a:p>
            <a:pPr marL="0" indent="0">
              <a:buNone/>
            </a:pPr>
            <a:r>
              <a:rPr lang="en-IN" sz="1800" dirty="0"/>
              <a:t>               otherwise go to 8</a:t>
            </a:r>
          </a:p>
          <a:p>
            <a:pPr marL="0" indent="0">
              <a:buNone/>
            </a:pPr>
            <a:r>
              <a:rPr lang="en-IN" sz="1800" dirty="0"/>
              <a:t>Step5. If b&gt;c go to step 7</a:t>
            </a:r>
          </a:p>
          <a:p>
            <a:pPr marL="0" indent="0">
              <a:buNone/>
            </a:pPr>
            <a:r>
              <a:rPr lang="en-IN" sz="1800" dirty="0"/>
              <a:t>               otherwise go to step 8</a:t>
            </a:r>
          </a:p>
          <a:p>
            <a:pPr marL="0" indent="0">
              <a:buNone/>
            </a:pPr>
            <a:r>
              <a:rPr lang="en-IN" sz="1800" dirty="0"/>
              <a:t>Step6. Print a , go to step 9</a:t>
            </a:r>
          </a:p>
          <a:p>
            <a:pPr marL="0" indent="0">
              <a:buNone/>
            </a:pPr>
            <a:r>
              <a:rPr lang="en-IN" sz="1800" dirty="0"/>
              <a:t>Step7. Print b  , go to step 9</a:t>
            </a:r>
          </a:p>
          <a:p>
            <a:pPr marL="0" indent="0">
              <a:buNone/>
            </a:pPr>
            <a:r>
              <a:rPr lang="en-IN" sz="1800" dirty="0"/>
              <a:t>Step8. Print c</a:t>
            </a:r>
          </a:p>
          <a:p>
            <a:pPr marL="0" indent="0">
              <a:buNone/>
            </a:pPr>
            <a:r>
              <a:rPr lang="en-IN" sz="1800" dirty="0"/>
              <a:t>Step9.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CE750-746B-8FCC-BA16-F24B9B5FF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C7AA9DC-9D4C-7E8E-0E06-1AD7144AAB53}"/>
              </a:ext>
            </a:extLst>
          </p:cNvPr>
          <p:cNvSpPr/>
          <p:nvPr/>
        </p:nvSpPr>
        <p:spPr>
          <a:xfrm>
            <a:off x="8915398" y="737027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ECCB82-E90C-5C12-6B8D-3C47323AC008}"/>
              </a:ext>
            </a:extLst>
          </p:cNvPr>
          <p:cNvSpPr/>
          <p:nvPr/>
        </p:nvSpPr>
        <p:spPr>
          <a:xfrm>
            <a:off x="8915398" y="6138221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1CE17036-6368-C213-771A-9D4CBA05F1B2}"/>
              </a:ext>
            </a:extLst>
          </p:cNvPr>
          <p:cNvSpPr/>
          <p:nvPr/>
        </p:nvSpPr>
        <p:spPr>
          <a:xfrm>
            <a:off x="8833522" y="2202617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a&gt;b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C1FD1FD-4325-6A96-FE4B-10EA58AE0E0B}"/>
              </a:ext>
            </a:extLst>
          </p:cNvPr>
          <p:cNvSpPr/>
          <p:nvPr/>
        </p:nvSpPr>
        <p:spPr>
          <a:xfrm>
            <a:off x="7730081" y="3253204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a&gt;c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631166F-8F5F-BC34-CF4A-C2FF207F1A0F}"/>
              </a:ext>
            </a:extLst>
          </p:cNvPr>
          <p:cNvSpPr/>
          <p:nvPr/>
        </p:nvSpPr>
        <p:spPr>
          <a:xfrm>
            <a:off x="9915886" y="3253204"/>
            <a:ext cx="1272703" cy="1050587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If b&gt;c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7103046D-70FE-60A7-F9C2-C421C2FD7920}"/>
              </a:ext>
            </a:extLst>
          </p:cNvPr>
          <p:cNvSpPr/>
          <p:nvPr/>
        </p:nvSpPr>
        <p:spPr>
          <a:xfrm>
            <a:off x="8521020" y="1499275"/>
            <a:ext cx="1897708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a,b,c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A843E274-C595-D92A-8870-1BBA689B0585}"/>
              </a:ext>
            </a:extLst>
          </p:cNvPr>
          <p:cNvSpPr/>
          <p:nvPr/>
        </p:nvSpPr>
        <p:spPr>
          <a:xfrm>
            <a:off x="8677270" y="4637505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c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0A3BA096-7267-7664-09C0-DC9F0481DA9F}"/>
              </a:ext>
            </a:extLst>
          </p:cNvPr>
          <p:cNvSpPr/>
          <p:nvPr/>
        </p:nvSpPr>
        <p:spPr>
          <a:xfrm>
            <a:off x="7573829" y="5431449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a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1E6AE09A-5EE7-8616-EA8A-5DA1E2700D4A}"/>
              </a:ext>
            </a:extLst>
          </p:cNvPr>
          <p:cNvSpPr/>
          <p:nvPr/>
        </p:nvSpPr>
        <p:spPr>
          <a:xfrm>
            <a:off x="9759634" y="5430093"/>
            <a:ext cx="1585205" cy="36962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Print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E48187-3B66-BFA7-E027-EEF475CCD4E7}"/>
              </a:ext>
            </a:extLst>
          </p:cNvPr>
          <p:cNvCxnSpPr>
            <a:stCxn id="5" idx="4"/>
            <a:endCxn id="10" idx="0"/>
          </p:cNvCxnSpPr>
          <p:nvPr/>
        </p:nvCxnSpPr>
        <p:spPr>
          <a:xfrm flipH="1">
            <a:off x="9469874" y="1191525"/>
            <a:ext cx="1" cy="307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267D89-7ED9-3745-096D-843E23CFB494}"/>
              </a:ext>
            </a:extLst>
          </p:cNvPr>
          <p:cNvCxnSpPr>
            <a:stCxn id="10" idx="4"/>
            <a:endCxn id="7" idx="0"/>
          </p:cNvCxnSpPr>
          <p:nvPr/>
        </p:nvCxnSpPr>
        <p:spPr>
          <a:xfrm>
            <a:off x="9469874" y="1868903"/>
            <a:ext cx="0" cy="333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33C901E-EE74-FEB5-8B44-90A3B508763C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8366434" y="2727910"/>
            <a:ext cx="467089" cy="5252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59CF5E1-CCA4-B6D3-E312-E2EA4B687430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10106225" y="2727911"/>
            <a:ext cx="446013" cy="5252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D3101E-A142-732C-AD7C-11C5E99766F4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flipH="1">
            <a:off x="8366432" y="4303791"/>
            <a:ext cx="1" cy="1127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FF19A40-DE17-AD83-DE24-02BB477589F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002784" y="3778498"/>
            <a:ext cx="332441" cy="8590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7E2C584-78DE-1975-E21B-D81C996E0F7A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9645988" y="3778497"/>
            <a:ext cx="269899" cy="846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B0D07E-4A4E-4076-0F3A-F6ABEAC198FE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flipH="1">
            <a:off x="10552237" y="4303791"/>
            <a:ext cx="1" cy="1126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624333-CE5B-FFAD-A165-C91E774250C3}"/>
              </a:ext>
            </a:extLst>
          </p:cNvPr>
          <p:cNvCxnSpPr>
            <a:stCxn id="11" idx="4"/>
            <a:endCxn id="6" idx="0"/>
          </p:cNvCxnSpPr>
          <p:nvPr/>
        </p:nvCxnSpPr>
        <p:spPr>
          <a:xfrm>
            <a:off x="9469873" y="5007133"/>
            <a:ext cx="2" cy="1131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B9BE772-2E94-BF53-1C60-D813688EAEA9}"/>
              </a:ext>
            </a:extLst>
          </p:cNvPr>
          <p:cNvCxnSpPr>
            <a:stCxn id="12" idx="4"/>
            <a:endCxn id="6" idx="2"/>
          </p:cNvCxnSpPr>
          <p:nvPr/>
        </p:nvCxnSpPr>
        <p:spPr>
          <a:xfrm rot="16200000" flipH="1">
            <a:off x="8358719" y="5808790"/>
            <a:ext cx="564393" cy="5489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010EF31-B333-6CF0-B7D1-9E5C2D8DCBA7}"/>
              </a:ext>
            </a:extLst>
          </p:cNvPr>
          <p:cNvCxnSpPr>
            <a:stCxn id="13" idx="4"/>
            <a:endCxn id="6" idx="6"/>
          </p:cNvCxnSpPr>
          <p:nvPr/>
        </p:nvCxnSpPr>
        <p:spPr>
          <a:xfrm rot="5400000">
            <a:off x="10005421" y="5818653"/>
            <a:ext cx="565749" cy="5278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9C50C5E-22AD-1621-E91B-1EAC794DCD97}"/>
              </a:ext>
            </a:extLst>
          </p:cNvPr>
          <p:cNvSpPr txBox="1"/>
          <p:nvPr/>
        </p:nvSpPr>
        <p:spPr>
          <a:xfrm>
            <a:off x="8369391" y="4290736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F2F9D0-FC5C-AA58-0478-6F7F4A25F22A}"/>
              </a:ext>
            </a:extLst>
          </p:cNvPr>
          <p:cNvSpPr txBox="1"/>
          <p:nvPr/>
        </p:nvSpPr>
        <p:spPr>
          <a:xfrm>
            <a:off x="8358489" y="2438659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E151FF-96A5-3425-C1FC-FD0882207A63}"/>
              </a:ext>
            </a:extLst>
          </p:cNvPr>
          <p:cNvSpPr txBox="1"/>
          <p:nvPr/>
        </p:nvSpPr>
        <p:spPr>
          <a:xfrm>
            <a:off x="10560665" y="4323135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DBE30F-A982-4B14-D056-1993F4BCFACA}"/>
              </a:ext>
            </a:extLst>
          </p:cNvPr>
          <p:cNvSpPr txBox="1"/>
          <p:nvPr/>
        </p:nvSpPr>
        <p:spPr>
          <a:xfrm>
            <a:off x="9575337" y="3486798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D729DB-D661-2AEC-7426-604C568D3B43}"/>
              </a:ext>
            </a:extLst>
          </p:cNvPr>
          <p:cNvSpPr txBox="1"/>
          <p:nvPr/>
        </p:nvSpPr>
        <p:spPr>
          <a:xfrm>
            <a:off x="8944012" y="3480453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F3739C-7ED4-8303-F3E8-69F4730CF2AB}"/>
              </a:ext>
            </a:extLst>
          </p:cNvPr>
          <p:cNvSpPr txBox="1"/>
          <p:nvPr/>
        </p:nvSpPr>
        <p:spPr>
          <a:xfrm>
            <a:off x="10106225" y="2434718"/>
            <a:ext cx="753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62766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4F80-33C9-4E83-ADC4-421FE6A5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1877-FAD2-7BB3-0C04-8AAFCF9D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26. Simple calculator using switch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EF1C7-2202-1106-90EE-23F9CFB13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1096500"/>
            <a:ext cx="5504411" cy="5080463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</a:t>
            </a:r>
            <a:r>
              <a:rPr lang="en-IN" sz="1600" dirty="0" err="1"/>
              <a:t>a,b,ope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Step3. If case ‘+’ go to step 7  otherwise go to 4</a:t>
            </a:r>
          </a:p>
          <a:p>
            <a:pPr marL="0" indent="0">
              <a:buNone/>
            </a:pPr>
            <a:r>
              <a:rPr lang="en-IN" sz="1600" dirty="0"/>
              <a:t>Step4. If case ‘-’ go to step 8  otherwise go to 5</a:t>
            </a:r>
          </a:p>
          <a:p>
            <a:pPr marL="0" indent="0">
              <a:buNone/>
            </a:pPr>
            <a:r>
              <a:rPr lang="en-IN" sz="1600" dirty="0"/>
              <a:t>Step5. If case ‘*’ go to step 9 otherwise go to 6</a:t>
            </a:r>
          </a:p>
          <a:p>
            <a:pPr marL="0" indent="0">
              <a:buNone/>
            </a:pPr>
            <a:r>
              <a:rPr lang="en-IN" sz="1600" dirty="0"/>
              <a:t>Step6. If case ‘/’ go to step  10 otherwise go to 11</a:t>
            </a:r>
          </a:p>
          <a:p>
            <a:pPr marL="0" indent="0">
              <a:buNone/>
            </a:pPr>
            <a:r>
              <a:rPr lang="en-IN" sz="1600" dirty="0"/>
              <a:t>Step7. Print </a:t>
            </a:r>
            <a:r>
              <a:rPr lang="en-IN" sz="1600" dirty="0" err="1"/>
              <a:t>a+b</a:t>
            </a:r>
            <a:r>
              <a:rPr lang="en-IN" sz="1600" dirty="0"/>
              <a:t>, go to step 12</a:t>
            </a:r>
          </a:p>
          <a:p>
            <a:pPr marL="0" indent="0">
              <a:buNone/>
            </a:pPr>
            <a:r>
              <a:rPr lang="en-IN" sz="1600" dirty="0"/>
              <a:t>Step8. Print a-b, go to step 12</a:t>
            </a:r>
          </a:p>
          <a:p>
            <a:pPr marL="0" indent="0">
              <a:buNone/>
            </a:pPr>
            <a:r>
              <a:rPr lang="en-IN" sz="1600" dirty="0"/>
              <a:t>Step9. Print a*b, go to step 12</a:t>
            </a:r>
          </a:p>
          <a:p>
            <a:pPr marL="0" indent="0">
              <a:buNone/>
            </a:pPr>
            <a:r>
              <a:rPr lang="en-IN" sz="1600" dirty="0"/>
              <a:t>Step10. Print a/b, go to step 12</a:t>
            </a:r>
          </a:p>
          <a:p>
            <a:pPr marL="0" indent="0">
              <a:buNone/>
            </a:pPr>
            <a:r>
              <a:rPr lang="en-IN" sz="1600" dirty="0"/>
              <a:t>Step11. Print invalid</a:t>
            </a:r>
          </a:p>
          <a:p>
            <a:pPr marL="0" indent="0">
              <a:buNone/>
            </a:pPr>
            <a:r>
              <a:rPr lang="en-IN" sz="1600" dirty="0"/>
              <a:t>Step12. Stop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4138D-90C7-1E28-3A03-C44574043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4594" y="964277"/>
            <a:ext cx="1555695" cy="45449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781C6E-F76F-2E46-95C7-4B79734C8BA4}"/>
              </a:ext>
            </a:extLst>
          </p:cNvPr>
          <p:cNvSpPr/>
          <p:nvPr/>
        </p:nvSpPr>
        <p:spPr>
          <a:xfrm>
            <a:off x="8283095" y="583634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4029D6-1527-F100-242F-14A6EE51B29E}"/>
              </a:ext>
            </a:extLst>
          </p:cNvPr>
          <p:cNvSpPr/>
          <p:nvPr/>
        </p:nvSpPr>
        <p:spPr>
          <a:xfrm>
            <a:off x="10956586" y="625560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7127286-53CD-F5F1-FFA7-66EF79846477}"/>
              </a:ext>
            </a:extLst>
          </p:cNvPr>
          <p:cNvSpPr/>
          <p:nvPr/>
        </p:nvSpPr>
        <p:spPr>
          <a:xfrm>
            <a:off x="7811305" y="1274321"/>
            <a:ext cx="2052536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Input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a,b,ope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85FDC30-F3B2-50EC-7B6D-9C66A5B6287A}"/>
              </a:ext>
            </a:extLst>
          </p:cNvPr>
          <p:cNvSpPr/>
          <p:nvPr/>
        </p:nvSpPr>
        <p:spPr>
          <a:xfrm>
            <a:off x="7822607" y="1830527"/>
            <a:ext cx="1280809" cy="74416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‘+’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76E87B38-F676-287E-4B23-89332B9A5C5F}"/>
              </a:ext>
            </a:extLst>
          </p:cNvPr>
          <p:cNvSpPr/>
          <p:nvPr/>
        </p:nvSpPr>
        <p:spPr>
          <a:xfrm>
            <a:off x="7821033" y="2761248"/>
            <a:ext cx="1280809" cy="74416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‘-’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097B2473-3C94-A7F7-6660-3440DF9D27CC}"/>
              </a:ext>
            </a:extLst>
          </p:cNvPr>
          <p:cNvSpPr/>
          <p:nvPr/>
        </p:nvSpPr>
        <p:spPr>
          <a:xfrm>
            <a:off x="7822607" y="5548298"/>
            <a:ext cx="1280809" cy="74416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default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7554B51-9A2F-A787-D360-EDD7707C0C04}"/>
              </a:ext>
            </a:extLst>
          </p:cNvPr>
          <p:cNvSpPr/>
          <p:nvPr/>
        </p:nvSpPr>
        <p:spPr>
          <a:xfrm>
            <a:off x="7822607" y="4622690"/>
            <a:ext cx="1280809" cy="74416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‘/’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6F3819D-FEBB-0052-6985-961D7547B3D9}"/>
              </a:ext>
            </a:extLst>
          </p:cNvPr>
          <p:cNvSpPr/>
          <p:nvPr/>
        </p:nvSpPr>
        <p:spPr>
          <a:xfrm>
            <a:off x="7822607" y="3691969"/>
            <a:ext cx="1280809" cy="74416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‘*’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C2374700-5A22-13F2-5966-CA881FD35A40}"/>
              </a:ext>
            </a:extLst>
          </p:cNvPr>
          <p:cNvSpPr/>
          <p:nvPr/>
        </p:nvSpPr>
        <p:spPr>
          <a:xfrm>
            <a:off x="9471493" y="2025615"/>
            <a:ext cx="168775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Print </a:t>
            </a:r>
            <a:r>
              <a:rPr lang="en-IN" sz="1600" dirty="0" err="1">
                <a:solidFill>
                  <a:schemeClr val="bg2">
                    <a:lumMod val="10000"/>
                  </a:schemeClr>
                </a:solidFill>
              </a:rPr>
              <a:t>a+b</a:t>
            </a:r>
            <a:endParaRPr lang="en-IN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E90830B8-497B-1CFF-B9C5-18C4CCC4F35E}"/>
              </a:ext>
            </a:extLst>
          </p:cNvPr>
          <p:cNvSpPr/>
          <p:nvPr/>
        </p:nvSpPr>
        <p:spPr>
          <a:xfrm>
            <a:off x="9492569" y="2950031"/>
            <a:ext cx="168775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Print a-b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5846F81A-F40F-221B-DE15-56A6CC4B4EB4}"/>
              </a:ext>
            </a:extLst>
          </p:cNvPr>
          <p:cNvSpPr/>
          <p:nvPr/>
        </p:nvSpPr>
        <p:spPr>
          <a:xfrm>
            <a:off x="9492569" y="3873439"/>
            <a:ext cx="168775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Print a*b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50CC48A-2A5B-3F3B-EBDA-19DBD4F0C49A}"/>
              </a:ext>
            </a:extLst>
          </p:cNvPr>
          <p:cNvSpPr/>
          <p:nvPr/>
        </p:nvSpPr>
        <p:spPr>
          <a:xfrm>
            <a:off x="9492569" y="4809559"/>
            <a:ext cx="168775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Print a/b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9BE173B6-2E20-8044-B43A-D920DF3FD1D7}"/>
              </a:ext>
            </a:extLst>
          </p:cNvPr>
          <p:cNvSpPr/>
          <p:nvPr/>
        </p:nvSpPr>
        <p:spPr>
          <a:xfrm>
            <a:off x="9471493" y="5735555"/>
            <a:ext cx="1687750" cy="369651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Invalid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8AEB1E-C86C-20B2-6F16-2B3654EC7B3E}"/>
              </a:ext>
            </a:extLst>
          </p:cNvPr>
          <p:cNvCxnSpPr>
            <a:endCxn id="8" idx="0"/>
          </p:cNvCxnSpPr>
          <p:nvPr/>
        </p:nvCxnSpPr>
        <p:spPr>
          <a:xfrm>
            <a:off x="8451709" y="1643972"/>
            <a:ext cx="11303" cy="186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28BEAC-120A-C04F-C8CD-B91152479F68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8461438" y="2574693"/>
            <a:ext cx="1574" cy="186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0DBDAE-DA08-C406-00C5-B9043FC52EA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8461438" y="3505414"/>
            <a:ext cx="1574" cy="186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EDE65F-495F-9519-C2BE-8FB48EB7F967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>
            <a:off x="8463012" y="4436135"/>
            <a:ext cx="0" cy="186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205C67-CE14-FF58-2169-96E8B0C3F069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8463012" y="5366856"/>
            <a:ext cx="0" cy="181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04D671-7658-1B64-6278-28DDA4D02033}"/>
              </a:ext>
            </a:extLst>
          </p:cNvPr>
          <p:cNvCxnSpPr>
            <a:stCxn id="8" idx="3"/>
            <a:endCxn id="16" idx="5"/>
          </p:cNvCxnSpPr>
          <p:nvPr/>
        </p:nvCxnSpPr>
        <p:spPr>
          <a:xfrm>
            <a:off x="9103416" y="2202610"/>
            <a:ext cx="414283" cy="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011807-8FF6-600C-BEC5-A35A7F338EFE}"/>
              </a:ext>
            </a:extLst>
          </p:cNvPr>
          <p:cNvCxnSpPr>
            <a:stCxn id="12" idx="3"/>
            <a:endCxn id="17" idx="5"/>
          </p:cNvCxnSpPr>
          <p:nvPr/>
        </p:nvCxnSpPr>
        <p:spPr>
          <a:xfrm>
            <a:off x="9101842" y="3133331"/>
            <a:ext cx="436933" cy="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A944294-CE69-D2ED-C850-92C7F77B3BEE}"/>
              </a:ext>
            </a:extLst>
          </p:cNvPr>
          <p:cNvCxnSpPr>
            <a:stCxn id="15" idx="3"/>
            <a:endCxn id="18" idx="5"/>
          </p:cNvCxnSpPr>
          <p:nvPr/>
        </p:nvCxnSpPr>
        <p:spPr>
          <a:xfrm flipV="1">
            <a:off x="9103416" y="4058265"/>
            <a:ext cx="435359" cy="5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5BDFE49-7B60-DB39-6F64-C8490B9E291E}"/>
              </a:ext>
            </a:extLst>
          </p:cNvPr>
          <p:cNvCxnSpPr>
            <a:cxnSpLocks/>
            <a:stCxn id="14" idx="3"/>
            <a:endCxn id="19" idx="5"/>
          </p:cNvCxnSpPr>
          <p:nvPr/>
        </p:nvCxnSpPr>
        <p:spPr>
          <a:xfrm flipV="1">
            <a:off x="9103416" y="4994385"/>
            <a:ext cx="435359" cy="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F1DC6F-A1B6-3B84-048D-8B47CB4BFF12}"/>
              </a:ext>
            </a:extLst>
          </p:cNvPr>
          <p:cNvCxnSpPr>
            <a:stCxn id="13" idx="3"/>
            <a:endCxn id="20" idx="5"/>
          </p:cNvCxnSpPr>
          <p:nvPr/>
        </p:nvCxnSpPr>
        <p:spPr>
          <a:xfrm>
            <a:off x="9103416" y="5920381"/>
            <a:ext cx="414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FA75FA-C0B4-63A1-2183-87E40885854A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1113037" y="2210441"/>
            <a:ext cx="414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1598F9A-13CA-C5A9-7DF2-0DD98DA02556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11511063" y="2210440"/>
            <a:ext cx="16257" cy="404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8B6ED37-B30B-E8E3-CF80-E45F0996A247}"/>
              </a:ext>
            </a:extLst>
          </p:cNvPr>
          <p:cNvCxnSpPr>
            <a:stCxn id="17" idx="2"/>
          </p:cNvCxnSpPr>
          <p:nvPr/>
        </p:nvCxnSpPr>
        <p:spPr>
          <a:xfrm flipV="1">
            <a:off x="11134113" y="3133331"/>
            <a:ext cx="393207" cy="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ACDFBA-2BA6-3A9E-5B13-7F1A6924C290}"/>
              </a:ext>
            </a:extLst>
          </p:cNvPr>
          <p:cNvCxnSpPr>
            <a:stCxn id="18" idx="2"/>
          </p:cNvCxnSpPr>
          <p:nvPr/>
        </p:nvCxnSpPr>
        <p:spPr>
          <a:xfrm flipV="1">
            <a:off x="11134113" y="4058264"/>
            <a:ext cx="3769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F21613D-C498-ABE4-F6FD-A24112DA786B}"/>
              </a:ext>
            </a:extLst>
          </p:cNvPr>
          <p:cNvCxnSpPr>
            <a:stCxn id="19" idx="2"/>
          </p:cNvCxnSpPr>
          <p:nvPr/>
        </p:nvCxnSpPr>
        <p:spPr>
          <a:xfrm flipV="1">
            <a:off x="11134113" y="4994384"/>
            <a:ext cx="3932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753EC8F-A57E-8415-ADB1-C1A82B668548}"/>
              </a:ext>
            </a:extLst>
          </p:cNvPr>
          <p:cNvCxnSpPr>
            <a:stCxn id="20" idx="2"/>
          </p:cNvCxnSpPr>
          <p:nvPr/>
        </p:nvCxnSpPr>
        <p:spPr>
          <a:xfrm flipV="1">
            <a:off x="11113037" y="5920380"/>
            <a:ext cx="3980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FE2E94-13AA-CFB9-7408-ADBDEF46A8C2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8837572" y="1038132"/>
            <a:ext cx="1" cy="236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E0EDC77-5695-EBBF-579F-DA9DE7065660}"/>
              </a:ext>
            </a:extLst>
          </p:cNvPr>
          <p:cNvSpPr txBox="1"/>
          <p:nvPr/>
        </p:nvSpPr>
        <p:spPr>
          <a:xfrm>
            <a:off x="9010508" y="1930194"/>
            <a:ext cx="72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0941BDC-E673-0EAA-62DA-3D2325C5F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541" y="4685202"/>
            <a:ext cx="755970" cy="43285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F3A3CEC-1557-8A39-A155-72BB7B99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064" y="3755814"/>
            <a:ext cx="755970" cy="43285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F6FF67F-3109-79B2-C41F-6B3A7499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063" y="2825093"/>
            <a:ext cx="755970" cy="43285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BE045A4-3AAD-5839-2D4E-BC20101AB9E3}"/>
              </a:ext>
            </a:extLst>
          </p:cNvPr>
          <p:cNvSpPr txBox="1"/>
          <p:nvPr/>
        </p:nvSpPr>
        <p:spPr>
          <a:xfrm>
            <a:off x="8469090" y="2512448"/>
            <a:ext cx="851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B63F581-2F76-63CE-3615-01C93B9C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59" y="5278729"/>
            <a:ext cx="883997" cy="43285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7D495E6-A9B0-CC0D-B177-24D1181D6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995" y="4340475"/>
            <a:ext cx="883997" cy="43285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A00AD96-34B6-4514-0B00-0D931DC75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60" y="3411596"/>
            <a:ext cx="883997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6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D620-0372-29BB-D465-3FE3A3F3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432E-78F8-497F-15A8-DD39C4F2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27. Check letter vowel or consonant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1E08D-97A8-7109-9295-77A778C6D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letter</a:t>
            </a:r>
          </a:p>
          <a:p>
            <a:pPr marL="0" indent="0">
              <a:buNone/>
            </a:pPr>
            <a:r>
              <a:rPr lang="en-IN" sz="1600" dirty="0"/>
              <a:t>Step3. If case a/A/e/E/</a:t>
            </a:r>
            <a:r>
              <a:rPr lang="en-IN" sz="1600" dirty="0" err="1"/>
              <a:t>i</a:t>
            </a:r>
            <a:r>
              <a:rPr lang="en-IN" sz="1600" dirty="0"/>
              <a:t>/I/o/O/u/U go to step 4   otherwise go  </a:t>
            </a:r>
          </a:p>
          <a:p>
            <a:pPr marL="0" indent="0">
              <a:buNone/>
            </a:pPr>
            <a:r>
              <a:rPr lang="en-IN" sz="1600" dirty="0"/>
              <a:t>              to step 5</a:t>
            </a:r>
          </a:p>
          <a:p>
            <a:pPr marL="0" indent="0">
              <a:buNone/>
            </a:pPr>
            <a:r>
              <a:rPr lang="en-IN" sz="1600" dirty="0"/>
              <a:t>Step4. Print vowel go to step 6</a:t>
            </a:r>
          </a:p>
          <a:p>
            <a:pPr marL="0" indent="0">
              <a:buNone/>
            </a:pPr>
            <a:r>
              <a:rPr lang="en-IN" sz="1600" dirty="0"/>
              <a:t>Step5. Print consonant</a:t>
            </a:r>
          </a:p>
          <a:p>
            <a:pPr marL="0" indent="0">
              <a:buNone/>
            </a:pPr>
            <a:r>
              <a:rPr lang="en-IN" sz="1600" dirty="0"/>
              <a:t>Step6. Stop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51142-882D-0596-0E89-BD4FC8A9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4158" y="964275"/>
            <a:ext cx="1762327" cy="55374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0D5B30-0759-3AD0-1568-20C9FE0FA273}"/>
              </a:ext>
            </a:extLst>
          </p:cNvPr>
          <p:cNvSpPr/>
          <p:nvPr/>
        </p:nvSpPr>
        <p:spPr>
          <a:xfrm>
            <a:off x="8578174" y="525389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726A34-573B-4E8C-0FCC-1532BAB06A07}"/>
              </a:ext>
            </a:extLst>
          </p:cNvPr>
          <p:cNvSpPr/>
          <p:nvPr/>
        </p:nvSpPr>
        <p:spPr>
          <a:xfrm>
            <a:off x="10410305" y="6199390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8E8884D5-E2D6-0EC7-7D6F-C3A3D4129B05}"/>
              </a:ext>
            </a:extLst>
          </p:cNvPr>
          <p:cNvSpPr/>
          <p:nvPr/>
        </p:nvSpPr>
        <p:spPr>
          <a:xfrm>
            <a:off x="8501974" y="1687159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C5E672-EFA1-DDD3-A7E3-E08B9A3C3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246" y="5460894"/>
            <a:ext cx="1335140" cy="676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DF686F-E21B-F87D-6735-E66FFAB1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246" y="4709463"/>
            <a:ext cx="1335140" cy="6767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6A0550-687C-2E26-874B-D8253490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246" y="3952176"/>
            <a:ext cx="1335140" cy="6767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4B6674-3C59-CE3F-5919-944682E0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246" y="3194014"/>
            <a:ext cx="1335140" cy="6767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8BFDCD-1F97-3291-2604-9386D76E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080" y="2406538"/>
            <a:ext cx="1335140" cy="676715"/>
          </a:xfrm>
          <a:prstGeom prst="rect">
            <a:avLst/>
          </a:prstGeom>
        </p:spPr>
      </p:pic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6579643-4635-DFBB-C7EA-28ED4F8CAD1A}"/>
              </a:ext>
            </a:extLst>
          </p:cNvPr>
          <p:cNvSpPr/>
          <p:nvPr/>
        </p:nvSpPr>
        <p:spPr>
          <a:xfrm>
            <a:off x="8241344" y="1196497"/>
            <a:ext cx="1782612" cy="341119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Input letter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BC7223E7-DB6D-1D52-EB16-1685484B8E09}"/>
              </a:ext>
            </a:extLst>
          </p:cNvPr>
          <p:cNvSpPr/>
          <p:nvPr/>
        </p:nvSpPr>
        <p:spPr>
          <a:xfrm>
            <a:off x="10239295" y="3342684"/>
            <a:ext cx="1423658" cy="333498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Vowel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432C75-CEDA-F381-AE75-ED0F82B3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295" y="5593267"/>
            <a:ext cx="1450974" cy="353599"/>
          </a:xfrm>
          <a:prstGeom prst="rect">
            <a:avLst/>
          </a:prstGeom>
        </p:spPr>
      </p:pic>
      <p:sp>
        <p:nvSpPr>
          <p:cNvPr id="27" name="Diamond 26">
            <a:extLst>
              <a:ext uri="{FF2B5EF4-FFF2-40B4-BE49-F238E27FC236}">
                <a16:creationId xmlns:a16="http://schemas.microsoft.com/office/drawing/2014/main" id="{26AC0E9E-BEFB-3A46-01F6-156008854857}"/>
              </a:ext>
            </a:extLst>
          </p:cNvPr>
          <p:cNvSpPr/>
          <p:nvPr/>
        </p:nvSpPr>
        <p:spPr>
          <a:xfrm>
            <a:off x="8513720" y="2439835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D156F197-0DA0-C72B-0840-1898D5B4A4CF}"/>
              </a:ext>
            </a:extLst>
          </p:cNvPr>
          <p:cNvSpPr/>
          <p:nvPr/>
        </p:nvSpPr>
        <p:spPr>
          <a:xfrm>
            <a:off x="8519411" y="3232110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C9370B32-B6CC-EC43-822D-8F4BF5FE03B4}"/>
              </a:ext>
            </a:extLst>
          </p:cNvPr>
          <p:cNvSpPr/>
          <p:nvPr/>
        </p:nvSpPr>
        <p:spPr>
          <a:xfrm>
            <a:off x="8510080" y="3991218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B5946D0D-16BD-AD58-CD8C-B9752D8EC396}"/>
              </a:ext>
            </a:extLst>
          </p:cNvPr>
          <p:cNvSpPr/>
          <p:nvPr/>
        </p:nvSpPr>
        <p:spPr>
          <a:xfrm>
            <a:off x="8519410" y="4749379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623A8585-4B50-AEAA-9F81-0F37976DBBFE}"/>
              </a:ext>
            </a:extLst>
          </p:cNvPr>
          <p:cNvSpPr/>
          <p:nvPr/>
        </p:nvSpPr>
        <p:spPr>
          <a:xfrm>
            <a:off x="8517393" y="5493193"/>
            <a:ext cx="1280809" cy="553746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>
                    <a:lumMod val="10000"/>
                  </a:schemeClr>
                </a:solidFill>
              </a:rPr>
              <a:t>Case a/A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4A5EC9E-0083-5316-68F6-1446BC101606}"/>
              </a:ext>
            </a:extLst>
          </p:cNvPr>
          <p:cNvCxnSpPr>
            <a:stCxn id="7" idx="3"/>
          </p:cNvCxnSpPr>
          <p:nvPr/>
        </p:nvCxnSpPr>
        <p:spPr>
          <a:xfrm>
            <a:off x="9782783" y="1964032"/>
            <a:ext cx="1580745" cy="1407836"/>
          </a:xfrm>
          <a:prstGeom prst="bentConnector3">
            <a:avLst>
              <a:gd name="adj1" fmla="val 998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F378CB7-3359-1CCB-4E0E-C6E87E32E833}"/>
              </a:ext>
            </a:extLst>
          </p:cNvPr>
          <p:cNvCxnSpPr>
            <a:stCxn id="27" idx="3"/>
          </p:cNvCxnSpPr>
          <p:nvPr/>
        </p:nvCxnSpPr>
        <p:spPr>
          <a:xfrm>
            <a:off x="9794529" y="2716708"/>
            <a:ext cx="886442" cy="655160"/>
          </a:xfrm>
          <a:prstGeom prst="bentConnector3">
            <a:avLst>
              <a:gd name="adj1" fmla="val 993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B68453F-DB62-D12D-E948-ABAF11F17A8C}"/>
              </a:ext>
            </a:extLst>
          </p:cNvPr>
          <p:cNvCxnSpPr>
            <a:cxnSpLocks/>
          </p:cNvCxnSpPr>
          <p:nvPr/>
        </p:nvCxnSpPr>
        <p:spPr>
          <a:xfrm flipV="1">
            <a:off x="9798202" y="3713085"/>
            <a:ext cx="853585" cy="527705"/>
          </a:xfrm>
          <a:prstGeom prst="bentConnector3">
            <a:avLst>
              <a:gd name="adj1" fmla="val 1012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75B29E3-883B-4A3B-05A4-96D4423DEA1F}"/>
              </a:ext>
            </a:extLst>
          </p:cNvPr>
          <p:cNvCxnSpPr>
            <a:cxnSpLocks/>
          </p:cNvCxnSpPr>
          <p:nvPr/>
        </p:nvCxnSpPr>
        <p:spPr>
          <a:xfrm flipV="1">
            <a:off x="9798202" y="3713085"/>
            <a:ext cx="1555598" cy="1305718"/>
          </a:xfrm>
          <a:prstGeom prst="bentConnector3">
            <a:avLst>
              <a:gd name="adj1" fmla="val 1000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6683D822-B353-AEE8-A5DD-498661661FB5}"/>
              </a:ext>
            </a:extLst>
          </p:cNvPr>
          <p:cNvCxnSpPr>
            <a:stCxn id="25" idx="2"/>
            <a:endCxn id="6" idx="6"/>
          </p:cNvCxnSpPr>
          <p:nvPr/>
        </p:nvCxnSpPr>
        <p:spPr>
          <a:xfrm flipH="1">
            <a:off x="11519259" y="3509433"/>
            <a:ext cx="102007" cy="2917206"/>
          </a:xfrm>
          <a:prstGeom prst="bentConnector3">
            <a:avLst>
              <a:gd name="adj1" fmla="val -2649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856ECDB-569A-9E66-21DB-E04DDF5447B8}"/>
              </a:ext>
            </a:extLst>
          </p:cNvPr>
          <p:cNvCxnSpPr>
            <a:stCxn id="28" idx="3"/>
            <a:endCxn id="25" idx="5"/>
          </p:cNvCxnSpPr>
          <p:nvPr/>
        </p:nvCxnSpPr>
        <p:spPr>
          <a:xfrm>
            <a:off x="9800220" y="3508983"/>
            <a:ext cx="480762" cy="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433F0C-3EC9-1164-14A7-3B06AE8744A3}"/>
              </a:ext>
            </a:extLst>
          </p:cNvPr>
          <p:cNvCxnSpPr>
            <a:stCxn id="5" idx="4"/>
            <a:endCxn id="18" idx="0"/>
          </p:cNvCxnSpPr>
          <p:nvPr/>
        </p:nvCxnSpPr>
        <p:spPr>
          <a:xfrm flipH="1">
            <a:off x="9132650" y="979887"/>
            <a:ext cx="1" cy="216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A87D3F4-B16F-AA1A-ECF2-E4F1FDF8951B}"/>
              </a:ext>
            </a:extLst>
          </p:cNvPr>
          <p:cNvCxnSpPr>
            <a:stCxn id="18" idx="4"/>
            <a:endCxn id="7" idx="0"/>
          </p:cNvCxnSpPr>
          <p:nvPr/>
        </p:nvCxnSpPr>
        <p:spPr>
          <a:xfrm>
            <a:off x="9132650" y="1537616"/>
            <a:ext cx="9729" cy="14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218449B-09F7-C4BF-27E9-C7C6619C3C20}"/>
              </a:ext>
            </a:extLst>
          </p:cNvPr>
          <p:cNvCxnSpPr>
            <a:stCxn id="7" idx="2"/>
            <a:endCxn id="27" idx="0"/>
          </p:cNvCxnSpPr>
          <p:nvPr/>
        </p:nvCxnSpPr>
        <p:spPr>
          <a:xfrm>
            <a:off x="9142379" y="2240905"/>
            <a:ext cx="11746" cy="198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6D8475-43A6-2F7D-ACA3-30EFF77C6E95}"/>
              </a:ext>
            </a:extLst>
          </p:cNvPr>
          <p:cNvCxnSpPr>
            <a:stCxn id="27" idx="2"/>
            <a:endCxn id="16" idx="0"/>
          </p:cNvCxnSpPr>
          <p:nvPr/>
        </p:nvCxnSpPr>
        <p:spPr>
          <a:xfrm>
            <a:off x="9154125" y="2993581"/>
            <a:ext cx="5691" cy="200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6BE538C-B667-136A-8284-A5D75D8FFF36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 flipH="1">
            <a:off x="9150485" y="3785856"/>
            <a:ext cx="9331" cy="205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962E4D1-71F0-9D87-3CBF-A0BB74105FD5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9150485" y="4544964"/>
            <a:ext cx="9331" cy="164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FE14E9E-E029-EA18-F269-C285E46582AA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 flipH="1">
            <a:off x="9157798" y="5303125"/>
            <a:ext cx="2017" cy="190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75FB5F9-D14F-BB6A-13AA-594BEC1DB0E9}"/>
              </a:ext>
            </a:extLst>
          </p:cNvPr>
          <p:cNvCxnSpPr>
            <a:stCxn id="31" idx="3"/>
            <a:endCxn id="26" idx="1"/>
          </p:cNvCxnSpPr>
          <p:nvPr/>
        </p:nvCxnSpPr>
        <p:spPr>
          <a:xfrm>
            <a:off x="9798202" y="5770066"/>
            <a:ext cx="4410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C122E3A-8D3F-793C-5535-E2BE59527A0C}"/>
              </a:ext>
            </a:extLst>
          </p:cNvPr>
          <p:cNvCxnSpPr>
            <a:stCxn id="26" idx="2"/>
            <a:endCxn id="6" idx="0"/>
          </p:cNvCxnSpPr>
          <p:nvPr/>
        </p:nvCxnSpPr>
        <p:spPr>
          <a:xfrm>
            <a:off x="10964782" y="5946866"/>
            <a:ext cx="0" cy="252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6665875-70FF-DC1F-C20E-0F331D5D2167}"/>
              </a:ext>
            </a:extLst>
          </p:cNvPr>
          <p:cNvSpPr txBox="1"/>
          <p:nvPr/>
        </p:nvSpPr>
        <p:spPr>
          <a:xfrm>
            <a:off x="10381862" y="5584753"/>
            <a:ext cx="121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consonant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6B79DD-5EF2-D21B-5ADE-7DFE361E21EC}"/>
              </a:ext>
            </a:extLst>
          </p:cNvPr>
          <p:cNvSpPr txBox="1"/>
          <p:nvPr/>
        </p:nvSpPr>
        <p:spPr>
          <a:xfrm>
            <a:off x="9659836" y="4741389"/>
            <a:ext cx="96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E8D248-ED4E-3E09-BD38-4C5BE8A40583}"/>
              </a:ext>
            </a:extLst>
          </p:cNvPr>
          <p:cNvSpPr txBox="1"/>
          <p:nvPr/>
        </p:nvSpPr>
        <p:spPr>
          <a:xfrm>
            <a:off x="9659836" y="3972845"/>
            <a:ext cx="96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22BED2-2E87-9B21-175D-8EF4AFF783B8}"/>
              </a:ext>
            </a:extLst>
          </p:cNvPr>
          <p:cNvSpPr txBox="1"/>
          <p:nvPr/>
        </p:nvSpPr>
        <p:spPr>
          <a:xfrm>
            <a:off x="9681542" y="3239949"/>
            <a:ext cx="96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0151F1-2309-6572-C31C-FE408C704C09}"/>
              </a:ext>
            </a:extLst>
          </p:cNvPr>
          <p:cNvSpPr txBox="1"/>
          <p:nvPr/>
        </p:nvSpPr>
        <p:spPr>
          <a:xfrm>
            <a:off x="9690767" y="2439835"/>
            <a:ext cx="96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CED59C-4303-849B-38EA-6870EBE61162}"/>
              </a:ext>
            </a:extLst>
          </p:cNvPr>
          <p:cNvSpPr txBox="1"/>
          <p:nvPr/>
        </p:nvSpPr>
        <p:spPr>
          <a:xfrm>
            <a:off x="9659836" y="1687159"/>
            <a:ext cx="96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3FF487-EF16-1837-55C0-E6482F1267FF}"/>
              </a:ext>
            </a:extLst>
          </p:cNvPr>
          <p:cNvSpPr txBox="1"/>
          <p:nvPr/>
        </p:nvSpPr>
        <p:spPr>
          <a:xfrm>
            <a:off x="9137514" y="5224891"/>
            <a:ext cx="864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2701C3-EE9D-A2B5-F24F-AA7279AE23E5}"/>
              </a:ext>
            </a:extLst>
          </p:cNvPr>
          <p:cNvSpPr txBox="1"/>
          <p:nvPr/>
        </p:nvSpPr>
        <p:spPr>
          <a:xfrm>
            <a:off x="9128703" y="4465470"/>
            <a:ext cx="864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7A4F56-2B84-48AF-8763-99BDDCDFC5F0}"/>
              </a:ext>
            </a:extLst>
          </p:cNvPr>
          <p:cNvSpPr txBox="1"/>
          <p:nvPr/>
        </p:nvSpPr>
        <p:spPr>
          <a:xfrm>
            <a:off x="9138270" y="3730896"/>
            <a:ext cx="864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2B8C5F-2241-ED00-7FC8-E989779005F7}"/>
              </a:ext>
            </a:extLst>
          </p:cNvPr>
          <p:cNvSpPr txBox="1"/>
          <p:nvPr/>
        </p:nvSpPr>
        <p:spPr>
          <a:xfrm>
            <a:off x="9132650" y="2940550"/>
            <a:ext cx="864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B9924A-3D99-ACFD-5EF7-AB4BB6A30931}"/>
              </a:ext>
            </a:extLst>
          </p:cNvPr>
          <p:cNvSpPr txBox="1"/>
          <p:nvPr/>
        </p:nvSpPr>
        <p:spPr>
          <a:xfrm>
            <a:off x="9132650" y="2168704"/>
            <a:ext cx="864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3405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5732-B3AF-9B36-55CB-E1DCE85E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5BB9-245F-C269-6553-9F7675C0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28. Calculate final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00062-B09E-1144-B7E4-4F93724EB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600" dirty="0"/>
              <a:t>Step1. Start</a:t>
            </a:r>
          </a:p>
          <a:p>
            <a:pPr marL="0" indent="0">
              <a:buNone/>
            </a:pPr>
            <a:r>
              <a:rPr lang="en-IN" sz="1600" dirty="0"/>
              <a:t>Step2. Input salary</a:t>
            </a:r>
          </a:p>
          <a:p>
            <a:pPr marL="0" indent="0">
              <a:buNone/>
            </a:pPr>
            <a:r>
              <a:rPr lang="en-IN" sz="1600" dirty="0"/>
              <a:t>Step3. If s&gt;=50000 go to step 5    otherwise go to 4</a:t>
            </a:r>
          </a:p>
          <a:p>
            <a:pPr marL="0" indent="0">
              <a:buNone/>
            </a:pPr>
            <a:r>
              <a:rPr lang="en-IN" sz="1600" dirty="0"/>
              <a:t>Step4. If s&gt;=50000 go to step 6    otherwise go to 7</a:t>
            </a:r>
          </a:p>
          <a:p>
            <a:pPr marL="0" indent="0">
              <a:buNone/>
            </a:pPr>
            <a:r>
              <a:rPr lang="en-IN" sz="1600" dirty="0"/>
              <a:t>Step5. fs=s+(35*s)/100 , go to step 8</a:t>
            </a:r>
          </a:p>
          <a:p>
            <a:pPr marL="0" indent="0">
              <a:buNone/>
            </a:pPr>
            <a:r>
              <a:rPr lang="en-IN" sz="1600" dirty="0"/>
              <a:t>Step6. fs=s+(30*s)/100 , go to step 8</a:t>
            </a:r>
          </a:p>
          <a:p>
            <a:pPr marL="0" indent="0">
              <a:buNone/>
            </a:pPr>
            <a:r>
              <a:rPr lang="en-IN" sz="1600" dirty="0"/>
              <a:t>Step7. fs=s+(15*s)/100</a:t>
            </a:r>
          </a:p>
          <a:p>
            <a:pPr marL="0" indent="0">
              <a:buNone/>
            </a:pPr>
            <a:r>
              <a:rPr lang="en-IN" sz="1600" dirty="0"/>
              <a:t>Step8. Print fs</a:t>
            </a:r>
          </a:p>
          <a:p>
            <a:pPr marL="0" indent="0">
              <a:buNone/>
            </a:pPr>
            <a:r>
              <a:rPr lang="en-IN" sz="1600" dirty="0"/>
              <a:t>Step9. Stop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0ABEA-0047-3DE2-62FA-0AAD6DD76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997" y="964277"/>
            <a:ext cx="1512651" cy="454498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85A8C4-AA66-07F4-C517-13ADA8FF876B}"/>
              </a:ext>
            </a:extLst>
          </p:cNvPr>
          <p:cNvSpPr/>
          <p:nvPr/>
        </p:nvSpPr>
        <p:spPr>
          <a:xfrm>
            <a:off x="7835622" y="768466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C5D13F-D29F-4A67-D162-008DC4D19861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515062E5-9639-BA86-3D2A-ED20A5AB4629}"/>
              </a:ext>
            </a:extLst>
          </p:cNvPr>
          <p:cNvSpPr/>
          <p:nvPr/>
        </p:nvSpPr>
        <p:spPr>
          <a:xfrm>
            <a:off x="7368692" y="1493728"/>
            <a:ext cx="2042813" cy="36138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salary(s)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54820AF-50D6-58DC-3A34-E977B3AD971A}"/>
              </a:ext>
            </a:extLst>
          </p:cNvPr>
          <p:cNvSpPr/>
          <p:nvPr/>
        </p:nvSpPr>
        <p:spPr>
          <a:xfrm>
            <a:off x="7315191" y="2165039"/>
            <a:ext cx="2149813" cy="914400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If s&gt;=50000 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9BB23D5-5FFA-0CFE-7EE9-D47AE6C330E4}"/>
              </a:ext>
            </a:extLst>
          </p:cNvPr>
          <p:cNvSpPr/>
          <p:nvPr/>
        </p:nvSpPr>
        <p:spPr>
          <a:xfrm>
            <a:off x="7320053" y="3408819"/>
            <a:ext cx="2149813" cy="914400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If s&gt;=50000 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683478F4-9C65-79BD-0DE5-D7C6134EC156}"/>
              </a:ext>
            </a:extLst>
          </p:cNvPr>
          <p:cNvSpPr/>
          <p:nvPr/>
        </p:nvSpPr>
        <p:spPr>
          <a:xfrm>
            <a:off x="9567144" y="5486531"/>
            <a:ext cx="2042813" cy="361387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573AF1-ED7E-572B-6640-19D6A372C98D}"/>
              </a:ext>
            </a:extLst>
          </p:cNvPr>
          <p:cNvSpPr/>
          <p:nvPr/>
        </p:nvSpPr>
        <p:spPr>
          <a:xfrm>
            <a:off x="9915903" y="2356845"/>
            <a:ext cx="1582189" cy="5307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fs=s+(35*s)/100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B133EB-7F1E-27BB-E1F7-040DA982AA4F}"/>
              </a:ext>
            </a:extLst>
          </p:cNvPr>
          <p:cNvSpPr/>
          <p:nvPr/>
        </p:nvSpPr>
        <p:spPr>
          <a:xfrm>
            <a:off x="9915903" y="3600625"/>
            <a:ext cx="1582189" cy="5307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fs=s+(30*s)/100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F42C2-D4D7-59A1-AD77-6D7247E55F47}"/>
              </a:ext>
            </a:extLst>
          </p:cNvPr>
          <p:cNvSpPr/>
          <p:nvPr/>
        </p:nvSpPr>
        <p:spPr>
          <a:xfrm>
            <a:off x="9915903" y="4567898"/>
            <a:ext cx="1582189" cy="5307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fs=s+(15*s)/100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DB6DDD0-7C31-61F7-8203-B50D3E1B068B}"/>
              </a:ext>
            </a:extLst>
          </p:cNvPr>
          <p:cNvCxnSpPr>
            <a:cxnSpLocks/>
            <a:endCxn id="10" idx="2"/>
          </p:cNvCxnSpPr>
          <p:nvPr/>
        </p:nvCxnSpPr>
        <p:spPr>
          <a:xfrm rot="5400000">
            <a:off x="10234395" y="3952629"/>
            <a:ext cx="3044986" cy="3842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ADFA3F-7D36-D0F6-1DCC-F5F90380DBF1}"/>
              </a:ext>
            </a:extLst>
          </p:cNvPr>
          <p:cNvCxnSpPr>
            <a:stCxn id="11" idx="3"/>
          </p:cNvCxnSpPr>
          <p:nvPr/>
        </p:nvCxnSpPr>
        <p:spPr>
          <a:xfrm>
            <a:off x="11498092" y="2622239"/>
            <a:ext cx="450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712ADA-017A-A5FE-2BA8-71E41FA361B2}"/>
              </a:ext>
            </a:extLst>
          </p:cNvPr>
          <p:cNvCxnSpPr>
            <a:stCxn id="12" idx="3"/>
          </p:cNvCxnSpPr>
          <p:nvPr/>
        </p:nvCxnSpPr>
        <p:spPr>
          <a:xfrm>
            <a:off x="11498092" y="3866019"/>
            <a:ext cx="450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0E3545-52E5-1ACA-5FFF-E93BF685B7DD}"/>
              </a:ext>
            </a:extLst>
          </p:cNvPr>
          <p:cNvCxnSpPr>
            <a:stCxn id="13" idx="3"/>
          </p:cNvCxnSpPr>
          <p:nvPr/>
        </p:nvCxnSpPr>
        <p:spPr>
          <a:xfrm>
            <a:off x="11498092" y="4833292"/>
            <a:ext cx="450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4BE357-F2CD-B743-B33D-C31189CD6DD6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8390099" y="1222964"/>
            <a:ext cx="0" cy="270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261078-B8A4-2684-B88B-83D69F5C7540}"/>
              </a:ext>
            </a:extLst>
          </p:cNvPr>
          <p:cNvCxnSpPr>
            <a:stCxn id="7" idx="4"/>
            <a:endCxn id="8" idx="0"/>
          </p:cNvCxnSpPr>
          <p:nvPr/>
        </p:nvCxnSpPr>
        <p:spPr>
          <a:xfrm flipH="1">
            <a:off x="8390098" y="1855115"/>
            <a:ext cx="1" cy="309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65D6DE-EDEA-1CB5-CF33-C6EE84D6248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8390098" y="3079439"/>
            <a:ext cx="4862" cy="329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F83B5CA-9613-6D6B-11E7-696EA2A82D7B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9469866" y="3866019"/>
            <a:ext cx="446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4C1790-C665-7181-B50E-FFAC23B425A7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9465004" y="2622239"/>
            <a:ext cx="4508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1E4EA7E-95D4-E598-9DAD-7265C25C477F}"/>
              </a:ext>
            </a:extLst>
          </p:cNvPr>
          <p:cNvCxnSpPr>
            <a:stCxn id="9" idx="2"/>
            <a:endCxn id="13" idx="1"/>
          </p:cNvCxnSpPr>
          <p:nvPr/>
        </p:nvCxnSpPr>
        <p:spPr>
          <a:xfrm rot="16200000" flipH="1">
            <a:off x="8900395" y="3817783"/>
            <a:ext cx="510073" cy="15209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CC7DC4-5305-B7B2-D11E-9355009C51D3}"/>
              </a:ext>
            </a:extLst>
          </p:cNvPr>
          <p:cNvCxnSpPr>
            <a:stCxn id="10" idx="4"/>
            <a:endCxn id="6" idx="0"/>
          </p:cNvCxnSpPr>
          <p:nvPr/>
        </p:nvCxnSpPr>
        <p:spPr>
          <a:xfrm flipH="1">
            <a:off x="10586937" y="5847918"/>
            <a:ext cx="1614" cy="329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3F6E51-0C04-E534-327B-8FB341654F20}"/>
              </a:ext>
            </a:extLst>
          </p:cNvPr>
          <p:cNvSpPr txBox="1"/>
          <p:nvPr/>
        </p:nvSpPr>
        <p:spPr>
          <a:xfrm>
            <a:off x="9347575" y="3563400"/>
            <a:ext cx="116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3F69A4-5661-FC7A-1135-C08918CE56F8}"/>
              </a:ext>
            </a:extLst>
          </p:cNvPr>
          <p:cNvSpPr txBox="1"/>
          <p:nvPr/>
        </p:nvSpPr>
        <p:spPr>
          <a:xfrm>
            <a:off x="9396213" y="2339076"/>
            <a:ext cx="116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1CABF7-AF66-4AA1-2FB1-BEF692B29921}"/>
              </a:ext>
            </a:extLst>
          </p:cNvPr>
          <p:cNvSpPr txBox="1"/>
          <p:nvPr/>
        </p:nvSpPr>
        <p:spPr>
          <a:xfrm>
            <a:off x="8337590" y="4408444"/>
            <a:ext cx="1040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9B3B16-2E0D-4B9E-96DD-A44E1244443F}"/>
              </a:ext>
            </a:extLst>
          </p:cNvPr>
          <p:cNvSpPr txBox="1"/>
          <p:nvPr/>
        </p:nvSpPr>
        <p:spPr>
          <a:xfrm>
            <a:off x="8355353" y="3091401"/>
            <a:ext cx="1040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540601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BD18-493C-AD9A-4453-4AEB9C9DD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46C6-3A54-7566-FD1A-9B3CB97B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29. Calculate electric bill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5EF9-2CBA-2BB7-007E-D185C10E3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Algorithm</a:t>
            </a:r>
          </a:p>
          <a:p>
            <a:pPr marL="0" indent="0">
              <a:buNone/>
            </a:pPr>
            <a:r>
              <a:rPr lang="en-IN" sz="1800" dirty="0"/>
              <a:t>Step1. Start</a:t>
            </a:r>
          </a:p>
          <a:p>
            <a:pPr marL="0" indent="0">
              <a:buNone/>
            </a:pPr>
            <a:r>
              <a:rPr lang="en-IN" sz="1800" dirty="0"/>
              <a:t>Step2. Input unit</a:t>
            </a:r>
          </a:p>
          <a:p>
            <a:pPr marL="0" indent="0">
              <a:buNone/>
            </a:pPr>
            <a:r>
              <a:rPr lang="en-IN" sz="1800" dirty="0"/>
              <a:t>Step3. If u&lt;=100 go to 5 otherwise go to 4</a:t>
            </a:r>
          </a:p>
          <a:p>
            <a:pPr marL="0" indent="0">
              <a:buNone/>
            </a:pPr>
            <a:r>
              <a:rPr lang="en-IN" sz="1800" dirty="0"/>
              <a:t>Step4. If u&lt;=200 go 6 to otherwise go to 7</a:t>
            </a:r>
          </a:p>
          <a:p>
            <a:pPr marL="0" indent="0">
              <a:buNone/>
            </a:pPr>
            <a:r>
              <a:rPr lang="en-IN" sz="1800" dirty="0"/>
              <a:t>Step5. c=u*5 go to step 8</a:t>
            </a:r>
          </a:p>
          <a:p>
            <a:pPr marL="0" indent="0">
              <a:buNone/>
            </a:pPr>
            <a:r>
              <a:rPr lang="en-IN" sz="1800" dirty="0"/>
              <a:t>Step6. c=100*5+(u-100)*7 ,go to step 8</a:t>
            </a:r>
          </a:p>
          <a:p>
            <a:pPr marL="0" indent="0">
              <a:buNone/>
            </a:pPr>
            <a:r>
              <a:rPr lang="en-IN" sz="1800" dirty="0"/>
              <a:t>Step7. c=100*5+100*7+(u-200)*10</a:t>
            </a:r>
          </a:p>
          <a:p>
            <a:pPr marL="0" indent="0">
              <a:buNone/>
            </a:pPr>
            <a:r>
              <a:rPr lang="en-IN" sz="1800" dirty="0"/>
              <a:t>Step8. Print c</a:t>
            </a:r>
          </a:p>
          <a:p>
            <a:pPr marL="0" indent="0">
              <a:buNone/>
            </a:pPr>
            <a:r>
              <a:rPr lang="en-IN" sz="1800" dirty="0"/>
              <a:t>Step9. Stop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3CA659-44D5-0F22-39D0-152DF018E281}"/>
              </a:ext>
            </a:extLst>
          </p:cNvPr>
          <p:cNvSpPr/>
          <p:nvPr/>
        </p:nvSpPr>
        <p:spPr>
          <a:xfrm>
            <a:off x="10590263" y="6031730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E1F0A75-F1D9-EA8C-00C7-25E2EDAD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593" y="964275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0A600BB-7593-E058-31E7-9ADAB1E6E70E}"/>
              </a:ext>
            </a:extLst>
          </p:cNvPr>
          <p:cNvSpPr/>
          <p:nvPr/>
        </p:nvSpPr>
        <p:spPr>
          <a:xfrm>
            <a:off x="8145289" y="964276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027370DD-B4F7-CB76-EF1E-1C7258A45131}"/>
              </a:ext>
            </a:extLst>
          </p:cNvPr>
          <p:cNvSpPr/>
          <p:nvPr/>
        </p:nvSpPr>
        <p:spPr>
          <a:xfrm>
            <a:off x="7778880" y="1658001"/>
            <a:ext cx="1841771" cy="359924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unit</a:t>
            </a:r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ED707EA4-48A5-C47E-F5A5-D63D9367E87A}"/>
              </a:ext>
            </a:extLst>
          </p:cNvPr>
          <p:cNvSpPr/>
          <p:nvPr/>
        </p:nvSpPr>
        <p:spPr>
          <a:xfrm>
            <a:off x="10220528" y="5337502"/>
            <a:ext cx="1841771" cy="359924"/>
          </a:xfrm>
          <a:prstGeom prst="parallelogram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c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342E6825-BC45-68D0-6B7B-B20FB5124B66}"/>
              </a:ext>
            </a:extLst>
          </p:cNvPr>
          <p:cNvSpPr/>
          <p:nvPr/>
        </p:nvSpPr>
        <p:spPr>
          <a:xfrm>
            <a:off x="7921552" y="2323947"/>
            <a:ext cx="1556426" cy="690663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If u&lt;=100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81D96A59-EB95-9947-EC81-B3C7356A89C4}"/>
              </a:ext>
            </a:extLst>
          </p:cNvPr>
          <p:cNvSpPr/>
          <p:nvPr/>
        </p:nvSpPr>
        <p:spPr>
          <a:xfrm>
            <a:off x="7921552" y="3429000"/>
            <a:ext cx="1556426" cy="690663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If u&lt;=200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3371FD-677F-EE37-723A-E942F5AB9E3D}"/>
              </a:ext>
            </a:extLst>
          </p:cNvPr>
          <p:cNvSpPr/>
          <p:nvPr/>
        </p:nvSpPr>
        <p:spPr>
          <a:xfrm>
            <a:off x="9854117" y="2465482"/>
            <a:ext cx="1764126" cy="41390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c=u*5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93DAEC-E1EA-F752-D9C7-52216463B3BA}"/>
              </a:ext>
            </a:extLst>
          </p:cNvPr>
          <p:cNvSpPr/>
          <p:nvPr/>
        </p:nvSpPr>
        <p:spPr>
          <a:xfrm>
            <a:off x="9854117" y="3512166"/>
            <a:ext cx="1764126" cy="524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c=(100*5)+(u-100)*7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40C741-6112-C470-EBA9-D9B56CF9DFB8}"/>
              </a:ext>
            </a:extLst>
          </p:cNvPr>
          <p:cNvSpPr/>
          <p:nvPr/>
        </p:nvSpPr>
        <p:spPr>
          <a:xfrm>
            <a:off x="8352727" y="4467658"/>
            <a:ext cx="3242730" cy="41390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c=100*5+100*7+(u-200)*10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B93AFFA-FB5B-B950-8F23-40BFCB9CCBF6}"/>
              </a:ext>
            </a:extLst>
          </p:cNvPr>
          <p:cNvCxnSpPr/>
          <p:nvPr/>
        </p:nvCxnSpPr>
        <p:spPr>
          <a:xfrm>
            <a:off x="11896928" y="2614068"/>
            <a:ext cx="0" cy="2723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D62176-4007-B71C-A789-E2E76340D7B1}"/>
              </a:ext>
            </a:extLst>
          </p:cNvPr>
          <p:cNvCxnSpPr>
            <a:stCxn id="27" idx="3"/>
          </p:cNvCxnSpPr>
          <p:nvPr/>
        </p:nvCxnSpPr>
        <p:spPr>
          <a:xfrm>
            <a:off x="11618243" y="2672436"/>
            <a:ext cx="2786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C92AF89-60C8-4716-EC5B-5E5DC384CA15}"/>
              </a:ext>
            </a:extLst>
          </p:cNvPr>
          <p:cNvCxnSpPr>
            <a:stCxn id="29" idx="3"/>
          </p:cNvCxnSpPr>
          <p:nvPr/>
        </p:nvCxnSpPr>
        <p:spPr>
          <a:xfrm flipV="1">
            <a:off x="11618243" y="3774330"/>
            <a:ext cx="2786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5002FF0-D889-D4B2-0326-BAA6525A40A9}"/>
              </a:ext>
            </a:extLst>
          </p:cNvPr>
          <p:cNvCxnSpPr>
            <a:stCxn id="30" idx="3"/>
          </p:cNvCxnSpPr>
          <p:nvPr/>
        </p:nvCxnSpPr>
        <p:spPr>
          <a:xfrm>
            <a:off x="11595457" y="4674612"/>
            <a:ext cx="3014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D7AB2E0-89E0-3956-48B8-649FF7D2B8EE}"/>
              </a:ext>
            </a:extLst>
          </p:cNvPr>
          <p:cNvCxnSpPr>
            <a:stCxn id="22" idx="4"/>
            <a:endCxn id="6" idx="0"/>
          </p:cNvCxnSpPr>
          <p:nvPr/>
        </p:nvCxnSpPr>
        <p:spPr>
          <a:xfrm>
            <a:off x="11141414" y="5697426"/>
            <a:ext cx="3326" cy="33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FD785A-5CC5-7EDE-3C8C-CE754EE65AAF}"/>
              </a:ext>
            </a:extLst>
          </p:cNvPr>
          <p:cNvCxnSpPr>
            <a:stCxn id="19" idx="4"/>
            <a:endCxn id="20" idx="0"/>
          </p:cNvCxnSpPr>
          <p:nvPr/>
        </p:nvCxnSpPr>
        <p:spPr>
          <a:xfrm>
            <a:off x="8699766" y="1418774"/>
            <a:ext cx="0" cy="239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296A4A-A6DF-46AA-26E8-E82F82E70CA2}"/>
              </a:ext>
            </a:extLst>
          </p:cNvPr>
          <p:cNvCxnSpPr>
            <a:stCxn id="20" idx="4"/>
            <a:endCxn id="23" idx="0"/>
          </p:cNvCxnSpPr>
          <p:nvPr/>
        </p:nvCxnSpPr>
        <p:spPr>
          <a:xfrm flipH="1">
            <a:off x="8699765" y="2017925"/>
            <a:ext cx="1" cy="306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7A02BB-4C78-3D8D-D446-B9B37C9F4C72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8699765" y="3014610"/>
            <a:ext cx="0" cy="414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AF3DD97-DD45-C2C9-3508-1CB5F965168B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9477978" y="3774331"/>
            <a:ext cx="37613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1AE3F75-6D98-8DC4-457D-40B84E3E3496}"/>
              </a:ext>
            </a:extLst>
          </p:cNvPr>
          <p:cNvCxnSpPr>
            <a:stCxn id="25" idx="2"/>
          </p:cNvCxnSpPr>
          <p:nvPr/>
        </p:nvCxnSpPr>
        <p:spPr>
          <a:xfrm>
            <a:off x="8699765" y="4119663"/>
            <a:ext cx="0" cy="347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840755-3C74-01E6-517D-0BF85A32B5FB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9477978" y="2669279"/>
            <a:ext cx="376139" cy="3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D2F3463-BFE6-DF5C-BC76-D56AAA35A054}"/>
              </a:ext>
            </a:extLst>
          </p:cNvPr>
          <p:cNvSpPr txBox="1"/>
          <p:nvPr/>
        </p:nvSpPr>
        <p:spPr>
          <a:xfrm>
            <a:off x="9364233" y="3493031"/>
            <a:ext cx="830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341B7-F979-109A-DAF8-F726F6FDDA30}"/>
              </a:ext>
            </a:extLst>
          </p:cNvPr>
          <p:cNvSpPr txBox="1"/>
          <p:nvPr/>
        </p:nvSpPr>
        <p:spPr>
          <a:xfrm>
            <a:off x="9336630" y="2384908"/>
            <a:ext cx="830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Yes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73E809-4E93-F158-979A-92CE60423F28}"/>
              </a:ext>
            </a:extLst>
          </p:cNvPr>
          <p:cNvSpPr txBox="1"/>
          <p:nvPr/>
        </p:nvSpPr>
        <p:spPr>
          <a:xfrm>
            <a:off x="8652409" y="4105019"/>
            <a:ext cx="90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9CE586-7364-7496-677F-DC89D8294E1E}"/>
              </a:ext>
            </a:extLst>
          </p:cNvPr>
          <p:cNvSpPr txBox="1"/>
          <p:nvPr/>
        </p:nvSpPr>
        <p:spPr>
          <a:xfrm>
            <a:off x="8634745" y="3041878"/>
            <a:ext cx="90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95467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5946-5EEA-0117-A828-6E9BE75B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5A7F-5AAE-54CC-9828-A0C6E98A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AED1-C591-0524-FD2C-2915AAA49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C5AE5A-1831-C07D-4018-2DD47076B677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A5ED1A0-27F7-E48D-F715-B6063BF3F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7002663-B09F-91DC-5CEB-68431AFD7F54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735856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7238-6DDA-651B-A541-C95A63FD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ABD9-1C51-3FFD-7CB8-CC900810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380E-D72B-633C-FFF1-DEA1E1465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E97DEB-D412-9E88-6E09-2253799D612A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6754195-8043-680F-1DE7-84076D5E8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D854C4-FB9F-00CD-90B1-E49594B06253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201969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8474-2AEE-99EC-84F8-4734235C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534E-140A-7D80-35EC-9F26D3D5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2DD1-D11E-6270-A3A7-78F1A20DC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F8368F-D8D3-E88A-9874-3F8FAD6C82AA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306AC9A-FDD7-41A4-E21C-1E23B999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CF6B77-6B01-2C9F-D83D-D216110C749C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157962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8954-9E53-4734-D66F-0ACA0E64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DCCB-CEDF-9CA5-EDAA-D20B909C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F406-8C7A-1813-C444-DEC8D526D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0FF59F-04E9-FBD7-E13E-31C9AB6B9535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CAACD61-C46D-3F21-88A2-4B021A795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59BCC2-2E35-82E7-9754-A1508E56E91D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4164053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3664-82A2-A75E-33DA-0302C560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C8BC-E66D-1389-37AC-F2042109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40A19-19C2-5B37-65B5-30636C62C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02F01E-3066-6DA9-BCCD-5E6A4DE2EAF1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F47D823-E3D3-FED1-FAE5-04F0113E8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61E4A3-1798-E8B3-B11B-7607A4D01AE6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802180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C85-4237-B20C-319F-A587D0D3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BF2F-C3E5-0AEE-A306-1E2809FA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0838411" cy="599151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21A2-DAC4-333B-F2D0-A3A98404A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389" y="964276"/>
            <a:ext cx="5504411" cy="52126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i="1" u="sng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40FF96-333B-A54F-34E0-65859700CC69}"/>
              </a:ext>
            </a:extLst>
          </p:cNvPr>
          <p:cNvSpPr/>
          <p:nvPr/>
        </p:nvSpPr>
        <p:spPr>
          <a:xfrm>
            <a:off x="10032460" y="6176963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BF9D0C6-8696-C53D-FB18-E48F1E8C8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4276"/>
            <a:ext cx="5181600" cy="5212687"/>
          </a:xfrm>
        </p:spPr>
        <p:txBody>
          <a:bodyPr>
            <a:normAutofit/>
          </a:bodyPr>
          <a:lstStyle/>
          <a:p>
            <a:r>
              <a:rPr lang="en-IN" sz="2000" i="1" u="sng" dirty="0"/>
              <a:t>Flowchart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560B29-5FB6-129C-22D6-10C586EE4F36}"/>
              </a:ext>
            </a:extLst>
          </p:cNvPr>
          <p:cNvSpPr/>
          <p:nvPr/>
        </p:nvSpPr>
        <p:spPr>
          <a:xfrm>
            <a:off x="9477983" y="1336178"/>
            <a:ext cx="1108954" cy="45449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87615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</TotalTime>
  <Words>2140</Words>
  <Application>Microsoft Office PowerPoint</Application>
  <PresentationFormat>Widescreen</PresentationFormat>
  <Paragraphs>514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1. Write an algorithm and flow chart to print “Adamas University</vt:lpstr>
      <vt:lpstr>3. Print difference between two no </vt:lpstr>
      <vt:lpstr>5. Print multiplication table </vt:lpstr>
      <vt:lpstr>6. Calculate simple interest</vt:lpstr>
      <vt:lpstr>8.Calculate temperature in °C and °F from °F and °C respectively</vt:lpstr>
      <vt:lpstr>9.Swaping btw two no with variable. 10 . Without varible</vt:lpstr>
      <vt:lpstr>11. Find last digit of a no a)with modulus b)without modulus</vt:lpstr>
      <vt:lpstr>12. Calculate compound interest</vt:lpstr>
      <vt:lpstr>13. Calculate area and peremeter of a rectengular</vt:lpstr>
      <vt:lpstr>15.Calculate quadratic equation </vt:lpstr>
      <vt:lpstr>17. Check a no even or odd</vt:lpstr>
      <vt:lpstr>18. Greater between two no</vt:lpstr>
      <vt:lpstr>19. Tossed coin Head or teil</vt:lpstr>
      <vt:lpstr>20. Check a no if it is whole or not</vt:lpstr>
      <vt:lpstr>21. Check leap year or not</vt:lpstr>
      <vt:lpstr>22. Greatest between three no</vt:lpstr>
      <vt:lpstr>23. Check a letter vowel or consonant</vt:lpstr>
      <vt:lpstr>25. Greatest between three no</vt:lpstr>
      <vt:lpstr>26. Simple calculator using switch case</vt:lpstr>
      <vt:lpstr>27. Check letter vowel or consonant</vt:lpstr>
      <vt:lpstr>28. Calculate final salary</vt:lpstr>
      <vt:lpstr>29. Calculate electric bill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ARPAN DAS</dc:creator>
  <cp:lastModifiedBy>ARPAN DAS</cp:lastModifiedBy>
  <cp:revision>4</cp:revision>
  <dcterms:created xsi:type="dcterms:W3CDTF">2025-09-24T17:29:07Z</dcterms:created>
  <dcterms:modified xsi:type="dcterms:W3CDTF">2025-10-11T19:11:18Z</dcterms:modified>
</cp:coreProperties>
</file>